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narrowing the claim. This is not a psychedelic-experience simulator and not receptor pharmacology.
The project is valuable because it turns vague mechanism language into explicit, testable ranking hypotheses.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reviewer will ask what is new. The answer is not a new brain theory; it is an auditable mechanism-ranking pipeline with explicit failure criteria.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exactly what data are in the result. Do not imply external validation or music-run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backbone for the rest of the deck. Every later slide maps to one stage of this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overstate the differences between D and A; they are close. Emphasize that C is the clearest current leader and E is the control-theory candidate.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an interpretable baseline layer. It motivates state dynamics, but it is not enough for final mechanism claims.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defense strength: the project does not hide that simple linear prediction is weak.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linger on. It carries the current thesis-ready result, but the conflict must be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clear that D is useful but not clean. It adds network neuroscience credibility without becoming the headline.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 intuitively: how much control effort is needed to move from one brain-state summary to another under a chosen control profile.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probably the most important defense slide. It prevents overclaiming while preserving the control-theory contribution.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show that the project is not a black box. Every result has a function, file, and artifact.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promise full pytest is currently clean if the environment still has temp/coverage permission problems.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 making SHAP the center of this project. The current explainability is stronger because the mechanism layers are themselves interpretable.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answers what you would do next and shows you understand the current evidence is not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should be delivered plainly. Do not sound defensive; the limitations are part of the scientific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demo short. If the audience is skeptical, go straight to limitations and exports.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by showing that the project can succeed even if receptor-specific E remains negative.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matches NEXT_STEPS.md and should be the final practical handoff.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 w="12700">
            <a:solidFill>
              <a:srgbClr val="F6F1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59F5A"/>
          </a:solidFill>
          <a:ln w="12700">
            <a:solidFill>
              <a:srgbClr val="C59F5A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38912" y="310896"/>
            <a:ext cx="103994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8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Explainable AI Ranking of LSD Macro-Dynamics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1021263" y="34747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1/19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38912" y="1097280"/>
            <a:ext cx="11313871" cy="475488"/>
          </a:xfrm>
          <a:prstGeom prst="roundRect">
            <a:avLst>
              <a:gd name="adj" fmla="val 23077"/>
            </a:avLst>
          </a:prstGeom>
          <a:solidFill>
            <a:srgbClr val="F2EBDD"/>
          </a:solidFill>
          <a:ln w="12700">
            <a:solidFill>
              <a:srgbClr val="B7AC9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117043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thesis is a mechanism-ranking framework, not a claim that AI discovers the true biological mechanism of LSD.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737360"/>
            <a:ext cx="11313871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Question: which transparent control-theoretic and graph-dynamic surrogate mechanisms align best with paired LSD-placebo fMRI proxy evidence?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188464"/>
            <a:ext cx="11313871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result: C hierarchy/routing ranks first; E network-control energy ranks second; B DMDc is a negative baseline.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2639568"/>
            <a:ext cx="11313871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Defense stance: every claim is macro-dynamics proxy evidence, not receptor-level, clinical, or subjective-state validation.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38912" y="3273552"/>
            <a:ext cx="113138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artifact: results/dynamic_mechanism_ranking/summary.json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 w="12700">
            <a:solidFill>
              <a:srgbClr val="F6F1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59F5A"/>
          </a:solidFill>
          <a:ln w="12700">
            <a:solidFill>
              <a:srgbClr val="C59F5A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38912" y="310896"/>
            <a:ext cx="103994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8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Is A Thesis Instead Of A Demo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1021263" y="34747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2/19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38912" y="1097280"/>
            <a:ext cx="11313871" cy="475488"/>
          </a:xfrm>
          <a:prstGeom prst="roundRect">
            <a:avLst>
              <a:gd name="adj" fmla="val 23077"/>
            </a:avLst>
          </a:prstGeom>
          <a:solidFill>
            <a:srgbClr val="F2EBDD"/>
          </a:solidFill>
          <a:ln w="12700">
            <a:solidFill>
              <a:srgbClr val="B7AC9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117043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scientific contribution is the testing framework: mechanisms can win, lose, or fail honestly.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737360"/>
            <a:ext cx="11313871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framing: rank candidate mechanism layers by signed alignment with empirical LSD-minus-placebo target summaries.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188464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Explainability framing: each layer maps to named metrics, nulls, code paths, and limitations.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2481072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Scientific value: negative results are not hidden; they identify underconstrained or wrong mechanism stories.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 w="12700">
            <a:solidFill>
              <a:srgbClr val="F6F1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59F5A"/>
          </a:solidFill>
          <a:ln w="12700">
            <a:solidFill>
              <a:srgbClr val="C59F5A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38912" y="310896"/>
            <a:ext cx="103994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8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Boundary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1021263" y="34747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3/19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38912" y="1097280"/>
            <a:ext cx="11313871" cy="475488"/>
          </a:xfrm>
          <a:prstGeom prst="roundRect">
            <a:avLst>
              <a:gd name="adj" fmla="val 23077"/>
            </a:avLst>
          </a:prstGeom>
          <a:solidFill>
            <a:srgbClr val="F2EBDD"/>
          </a:solidFill>
          <a:ln w="12700">
            <a:solidFill>
              <a:srgbClr val="B7AC9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117043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current empirical layer uses cached paired ds003059 placebo/LSD records; run-02 music is not part of the primary ranking yet.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737360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input: 30 paired subject/run records from 15 subjects.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029968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runs: run-01 and run-03.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2322576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representation: coarse 8-module time series and derived FC/state summaries.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2615184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Blocked claim: run-02/music remains exploratory until motion/context checks are completed.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38912" y="3090672"/>
            <a:ext cx="113138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report: docs/stage_reports/dynamic_mechanism_ranking.md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 w="12700">
            <a:solidFill>
              <a:srgbClr val="F6F1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59F5A"/>
          </a:solidFill>
          <a:ln w="12700">
            <a:solidFill>
              <a:srgbClr val="C59F5A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38912" y="310896"/>
            <a:ext cx="103994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8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Overview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1021263" y="34747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4/19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38912" y="1097280"/>
            <a:ext cx="11313871" cy="475488"/>
          </a:xfrm>
          <a:prstGeom prst="roundRect">
            <a:avLst>
              <a:gd name="adj" fmla="val 23077"/>
            </a:avLst>
          </a:prstGeom>
          <a:solidFill>
            <a:srgbClr val="F2EBDD"/>
          </a:solidFill>
          <a:ln w="12700">
            <a:solidFill>
              <a:srgbClr val="B7AC9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117043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repo moves from cached fMRI summaries to mechanism scores, exports, and an interactive dashboard.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737360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paired empirical records.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029968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 A/B/C/D/E mechanism layers.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2322576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mechanisms by signed support scores.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2615184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JSON, CSV, XLSX, HTML figures, report, and dashboard payload.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2907792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tests and smoke checks to protect reproducibility.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 w="12700">
            <a:solidFill>
              <a:srgbClr val="F6F1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59F5A"/>
          </a:solidFill>
          <a:ln w="12700">
            <a:solidFill>
              <a:srgbClr val="C59F5A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38912" y="310896"/>
            <a:ext cx="103994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8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Mechanism Ranking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1021263" y="34747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5/19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38912" y="1097280"/>
            <a:ext cx="11313871" cy="475488"/>
          </a:xfrm>
          <a:prstGeom prst="roundRect">
            <a:avLst>
              <a:gd name="adj" fmla="val 23077"/>
            </a:avLst>
          </a:prstGeom>
          <a:solidFill>
            <a:srgbClr val="F2EBDD"/>
          </a:solidFill>
          <a:ln w="12700">
            <a:solidFill>
              <a:srgbClr val="B7AC9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117043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and E are the current story; B is explicitly negative.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737360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 C hierarchy/routing, score 0.332606.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029968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2: E network-control energy, score 0.175078.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2322576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3: D dynamic repertoire / graph metrics, score 0.150619.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2615184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4: A transition-state proxy, score 0.148906.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2907792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5: B DMDc condition-interaction, score -0.074064.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 w="12700">
            <a:solidFill>
              <a:srgbClr val="F6F1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59F5A"/>
          </a:solidFill>
          <a:ln w="12700">
            <a:solidFill>
              <a:srgbClr val="C59F5A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38912" y="310896"/>
            <a:ext cx="103994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8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A: Transition-State Proxy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1021263" y="34747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6/19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38912" y="1097280"/>
            <a:ext cx="11313871" cy="475488"/>
          </a:xfrm>
          <a:prstGeom prst="roundRect">
            <a:avLst>
              <a:gd name="adj" fmla="val 23077"/>
            </a:avLst>
          </a:prstGeom>
          <a:solidFill>
            <a:srgbClr val="F2EBDD"/>
          </a:solidFill>
          <a:ln w="12700">
            <a:solidFill>
              <a:srgbClr val="B7AC9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117043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tests whether LSD broadens or destabilizes macro-state switching, but state labels are still a sensitivity risk.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737360"/>
            <a:ext cx="11313871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Metrics: state occupancy entropy, transition entropy, transition rate, dwell time, barrier-reduction proxy, step distance.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188464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evidence: weak-to-moderate support through transition entropy, transition rate, and shorter dwell proxies.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2481072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caveat: PCA-quantile state labels are transparent but not a final HMM/state-space solution.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 w="12700">
            <a:solidFill>
              <a:srgbClr val="F6F1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59F5A"/>
          </a:solidFill>
          <a:ln w="12700">
            <a:solidFill>
              <a:srgbClr val="C59F5A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38912" y="310896"/>
            <a:ext cx="103994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8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B: DMDc Predictive Baseline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1021263" y="34747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7/19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38912" y="1097280"/>
            <a:ext cx="11313871" cy="475488"/>
          </a:xfrm>
          <a:prstGeom prst="roundRect">
            <a:avLst>
              <a:gd name="adj" fmla="val 23077"/>
            </a:avLst>
          </a:prstGeom>
          <a:solidFill>
            <a:srgbClr val="F2EBDD"/>
          </a:solidFill>
          <a:ln w="12700">
            <a:solidFill>
              <a:srgbClr val="B7AC9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117043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does not support the main story, and that makes the result more defensible.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737360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Equation: z_pair(x[t+1]) = A z_pair(x[t]) + B u[t] + C(u[t] * z_pair(x[t])) + bias + noise.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029968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Validation: leave-one-subject-out one-step prediction.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2322576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Result: condition-interaction relative improvement is -0.074064 percent.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2615184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Interpretation: DMDc is a negative-control baseline, not network-control energy.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 w="12700">
            <a:solidFill>
              <a:srgbClr val="F6F1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59F5A"/>
          </a:solidFill>
          <a:ln w="12700">
            <a:solidFill>
              <a:srgbClr val="C59F5A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38912" y="310896"/>
            <a:ext cx="103994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8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C: Hierarchy And Routing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1021263" y="34747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8/19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38912" y="1097280"/>
            <a:ext cx="11313871" cy="475488"/>
          </a:xfrm>
          <a:prstGeom prst="roundRect">
            <a:avLst>
              <a:gd name="adj" fmla="val 23077"/>
            </a:avLst>
          </a:prstGeom>
          <a:solidFill>
            <a:srgbClr val="F2EBDD"/>
          </a:solidFill>
          <a:ln w="12700">
            <a:solidFill>
              <a:srgbClr val="B7AC9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117043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is the strongest current layer because sensory, thalamic, and receptor-prior coupling signs align best.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737360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Supportive: sensory-transmodal coupling, sensory global coupling, thalamic global/transmodal coupling.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029968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Added upgrade: hierarchy-gradient flattening and receptor-weighted global coupling.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2322576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 conflict: associative-global coupling does not match the expected direction.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2615184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boundary: this is FC proxy evidence, not proof of REBUS or thalamic gating.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 w="12700">
            <a:solidFill>
              <a:srgbClr val="F6F1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59F5A"/>
          </a:solidFill>
          <a:ln w="12700">
            <a:solidFill>
              <a:srgbClr val="C59F5A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38912" y="310896"/>
            <a:ext cx="103994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8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D: Dynamic Repertoire And Graph Metrics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1021263" y="34747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9/19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38912" y="1097280"/>
            <a:ext cx="11313871" cy="475488"/>
          </a:xfrm>
          <a:prstGeom prst="roundRect">
            <a:avLst>
              <a:gd name="adj" fmla="val 23077"/>
            </a:avLst>
          </a:prstGeom>
          <a:solidFill>
            <a:srgbClr val="F2EBDD"/>
          </a:solidFill>
          <a:ln w="12700">
            <a:solidFill>
              <a:srgbClr val="B7AC9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117043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 improves after graph-theory metrics are added, but dynamic-FC movement remains mixed.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737360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Supportive: between-network integration, modularity reduction, participation coefficient, global efficiency.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029968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Weak/conflicting: dynamic-FC variance and FC path length move against the expected repertoire direction.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2322576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test: window-size sensitivity and dynamic-community robustness.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 w="12700">
            <a:solidFill>
              <a:srgbClr val="F6F1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59F5A"/>
          </a:solidFill>
          <a:ln w="12700">
            <a:solidFill>
              <a:srgbClr val="C59F5A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38912" y="310896"/>
            <a:ext cx="103994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8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E: Network-Control Energy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1021263" y="34747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10/19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38912" y="1097280"/>
            <a:ext cx="11313871" cy="475488"/>
          </a:xfrm>
          <a:prstGeom prst="roundRect">
            <a:avLst>
              <a:gd name="adj" fmla="val 23077"/>
            </a:avLst>
          </a:prstGeom>
          <a:solidFill>
            <a:srgbClr val="F2EBDD"/>
          </a:solidFill>
          <a:ln w="12700">
            <a:solidFill>
              <a:srgbClr val="B7AC9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117043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 is the mathematically serious control-theory layer, but it is still a proxy until structural connectomes and PET receptor maps are added.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737360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Equation: x[t+1] = A_graph x[t] + B_profile u[t].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029968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Energy: minimum finite-horizon sum of squared control inputs.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2322576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Profiles: receptor, hierarchy, sensory, transmodal, thalamic, uniform, degree, random receptor-prior permutations.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2615184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graph: macro-module proxy graph, not a structural connectome.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 w="12700">
            <a:solidFill>
              <a:srgbClr val="F6F1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59F5A"/>
          </a:solidFill>
          <a:ln w="12700">
            <a:solidFill>
              <a:srgbClr val="C59F5A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38912" y="310896"/>
            <a:ext cx="103994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8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 Result: Supportive But Split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1021263" y="34747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11/19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38912" y="1097280"/>
            <a:ext cx="11313871" cy="475488"/>
          </a:xfrm>
          <a:prstGeom prst="roundRect">
            <a:avLst>
              <a:gd name="adj" fmla="val 23077"/>
            </a:avLst>
          </a:prstGeom>
          <a:solidFill>
            <a:srgbClr val="F2EBDD"/>
          </a:solidFill>
          <a:ln w="12700">
            <a:solidFill>
              <a:srgbClr val="B7AC9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117043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 supports lower LSD transition energy, but not receptor-specific control placement.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737360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Supportive: LSD vs placebo receptor-profile transition-energy reduction is +4.70 percent.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029968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Supportive: LSD vs placebo uniform-control transition-energy reduction is +6.94 percent.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2322576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supportive: receptor-prior control is -34.39 percent worse than uniform control.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2615184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supportive: receptor-prior control is -15.08 percent worse than random receptor-prior permutations.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2907792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Defensible claim: landscape-flattening proxy is plausible; receptor-specific placement remains unproven.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 w="12700">
            <a:solidFill>
              <a:srgbClr val="F6F1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59F5A"/>
          </a:solidFill>
          <a:ln w="12700">
            <a:solidFill>
              <a:srgbClr val="C59F5A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38912" y="310896"/>
            <a:ext cx="103994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8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File-By-File Code Walkthrough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1021263" y="34747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12/19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38912" y="1097280"/>
            <a:ext cx="11313871" cy="475488"/>
          </a:xfrm>
          <a:prstGeom prst="roundRect">
            <a:avLst>
              <a:gd name="adj" fmla="val 23077"/>
            </a:avLst>
          </a:prstGeom>
          <a:solidFill>
            <a:srgbClr val="F2EBDD"/>
          </a:solidFill>
          <a:ln w="12700">
            <a:solidFill>
              <a:srgbClr val="B7AC9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117043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is explainable because the code has a clear path from data to metrics to exports.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737360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loading: empirical viewer JSON records become paired placebo/LSD arrays.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029968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 engine: dynamic_mechanism.py computes A+B+C+D+E.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2322576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 engine: run_dynamic_mechanism_ranking.py writes report, tables, and figures.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2615184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engine: export_dynamic_mechanism_tables.py creates reviewable CSV/XLSX files.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2907792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layer: FastAPI app and dashboard template expose results interactively.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3200400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Tests: focused tests assert schema, dashboard containers, and parcellation metadata.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 w="12700">
            <a:solidFill>
              <a:srgbClr val="F6F1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59F5A"/>
          </a:solidFill>
          <a:ln w="12700">
            <a:solidFill>
              <a:srgbClr val="C59F5A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38912" y="310896"/>
            <a:ext cx="103994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8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Code Runs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1021263" y="34747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13/19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38912" y="1097280"/>
            <a:ext cx="11313871" cy="475488"/>
          </a:xfrm>
          <a:prstGeom prst="roundRect">
            <a:avLst>
              <a:gd name="adj" fmla="val 23077"/>
            </a:avLst>
          </a:prstGeom>
          <a:solidFill>
            <a:srgbClr val="F2EBDD"/>
          </a:solidFill>
          <a:ln w="12700">
            <a:solidFill>
              <a:srgbClr val="B7AC9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117043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demo can be reproduced with a short command chain and audited through saved artifacts.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737360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ranking: uv run python scripts/run_dynamic_mechanism_ranking.py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029968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review tables: uv run python scripts/export_dynamic_mechanism_tables.py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2322576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dashboard: uv run python scripts/run_dashboard.py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2615184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outputs: summary.json, stage report, HTML figures, CSV/XLSX workbook.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2907792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 environment issue: Windows permission locks can affect pytest temp and coverage cleanup.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 w="12700">
            <a:solidFill>
              <a:srgbClr val="F6F1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59F5A"/>
          </a:solidFill>
          <a:ln w="12700">
            <a:solidFill>
              <a:srgbClr val="C59F5A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38912" y="310896"/>
            <a:ext cx="103994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8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Explainability Plan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1021263" y="34747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14/19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38912" y="1097280"/>
            <a:ext cx="11313871" cy="475488"/>
          </a:xfrm>
          <a:prstGeom prst="roundRect">
            <a:avLst>
              <a:gd name="adj" fmla="val 23077"/>
            </a:avLst>
          </a:prstGeom>
          <a:solidFill>
            <a:srgbClr val="F2EBDD"/>
          </a:solidFill>
          <a:ln w="12700">
            <a:solidFill>
              <a:srgbClr val="B7AC9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117043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Explainability here means traceable mechanisms, signed metrics, nulls, and failure modes rather than post-hoc mysticism.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737360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explanation: mechanism ranking board and layer scores.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029968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 explanation: signed effect size, sign consistency, sign-test p-values.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2322576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Individual failure explanation: metric-level sign conflicts and negative baselines.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2615184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explanation: compare receptor, uniform, random, degree, and future structural nulls.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2907792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 explanation: show what each layer would need to support before a claim strengthens.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 w="12700">
            <a:solidFill>
              <a:srgbClr val="F6F1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59F5A"/>
          </a:solidFill>
          <a:ln w="12700">
            <a:solidFill>
              <a:srgbClr val="C59F5A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38912" y="310896"/>
            <a:ext cx="103994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8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Robustness Is The Next Scientific Gate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1021263" y="34747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15/19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38912" y="1097280"/>
            <a:ext cx="11313871" cy="475488"/>
          </a:xfrm>
          <a:prstGeom prst="roundRect">
            <a:avLst>
              <a:gd name="adj" fmla="val 23077"/>
            </a:avLst>
          </a:prstGeom>
          <a:solidFill>
            <a:srgbClr val="F2EBDD"/>
          </a:solidFill>
          <a:ln w="12700">
            <a:solidFill>
              <a:srgbClr val="B7AC9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117043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next thesis task is not a prettier deck; it is proving whether C and E survive stress tests.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737360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Subject/bootstrap uncertainty for layer scores.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029968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split: run-01 vs run-03.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2322576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 horizon sensitivity.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2615184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A/E state-labeling sensitivity.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2907792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 window-size sensitivity.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3200400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keep, weaken, or reject each mechanism story based on robustness.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 w="12700">
            <a:solidFill>
              <a:srgbClr val="F6F1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59F5A"/>
          </a:solidFill>
          <a:ln w="12700">
            <a:solidFill>
              <a:srgbClr val="C59F5A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38912" y="310896"/>
            <a:ext cx="103994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8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Hard Reviewer Questions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1021263" y="34747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16/19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38912" y="1097280"/>
            <a:ext cx="11313871" cy="475488"/>
          </a:xfrm>
          <a:prstGeom prst="roundRect">
            <a:avLst>
              <a:gd name="adj" fmla="val 23077"/>
            </a:avLst>
          </a:prstGeom>
          <a:solidFill>
            <a:srgbClr val="F2EBDD"/>
          </a:solidFill>
          <a:ln w="12700">
            <a:solidFill>
              <a:srgbClr val="B7AC9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117043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deck should make objections easy to answer before they are asked.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737360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model? Because every mechanism is explicit, testable, and falsifiable.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029968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trust it? Trust the pipeline and artifacts, not a biological overclaim.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2322576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new? AI-assisted ranking and failure analysis of transparent control-theoretic surrogate mechanisms.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2615184"/>
            <a:ext cx="11313871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weak? 8-module proxy, coarse receptor priors, no structural connectome yet, motion sensitivity, dynamic-FC sensitivity.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3066288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would change your mind? Robustness failure or nulls defeating C/E.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 w="12700">
            <a:solidFill>
              <a:srgbClr val="F6F1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59F5A"/>
          </a:solidFill>
          <a:ln w="12700">
            <a:solidFill>
              <a:srgbClr val="C59F5A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38912" y="310896"/>
            <a:ext cx="103994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8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Script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1021263" y="34747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17/19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38912" y="1097280"/>
            <a:ext cx="11313871" cy="475488"/>
          </a:xfrm>
          <a:prstGeom prst="roundRect">
            <a:avLst>
              <a:gd name="adj" fmla="val 23077"/>
            </a:avLst>
          </a:prstGeom>
          <a:solidFill>
            <a:srgbClr val="F2EBDD"/>
          </a:solidFill>
          <a:ln w="12700">
            <a:solidFill>
              <a:srgbClr val="B7AC9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117043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dashboard should be used as an evidence console, not a marketing page.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737360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dashboard and show claim boundary first.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029968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mechanism ranking board: C first, E second, B negative.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2322576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E plot and explain split result.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2615184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CSV/XLSX exports to show reviewability.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2907792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code path from dynamic_mechanism.py to dashboard payload.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3200400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with next-step robustness gate.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 w="12700">
            <a:solidFill>
              <a:srgbClr val="F6F1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59F5A"/>
          </a:solidFill>
          <a:ln w="12700">
            <a:solidFill>
              <a:srgbClr val="C59F5A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38912" y="310896"/>
            <a:ext cx="103994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8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Thesis-Ready Claim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1021263" y="34747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18/19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38912" y="1097280"/>
            <a:ext cx="11313871" cy="475488"/>
          </a:xfrm>
          <a:prstGeom prst="roundRect">
            <a:avLst>
              <a:gd name="adj" fmla="val 23077"/>
            </a:avLst>
          </a:prstGeom>
          <a:solidFill>
            <a:srgbClr val="F2EBDD"/>
          </a:solidFill>
          <a:ln w="12700">
            <a:solidFill>
              <a:srgbClr val="B7AC9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117043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final claim is conservative, but it is defensible.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737360"/>
            <a:ext cx="11313871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defensible claim: hierarchy/routing and graph-control-energy summaries align better with paired LSD-placebo macro-dynamic evidence than generic DMDc condition prediction.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188464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unresolved claim: receptor-specific network-control placement remains unproven.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2481072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Minimum viable thesis: explainable mechanism ranking plus honest failure analysis.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2773680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Ambitious thesis: structural-connectome and PET-informed network-control robustness.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 w="12700">
            <a:solidFill>
              <a:srgbClr val="F6F1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59F5A"/>
          </a:solidFill>
          <a:ln w="12700">
            <a:solidFill>
              <a:srgbClr val="C59F5A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38912" y="310896"/>
            <a:ext cx="103994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8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 Would Do Next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1021263" y="34747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19/19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38912" y="1097280"/>
            <a:ext cx="11313871" cy="475488"/>
          </a:xfrm>
          <a:prstGeom prst="roundRect">
            <a:avLst>
              <a:gd name="adj" fmla="val 23077"/>
            </a:avLst>
          </a:prstGeom>
          <a:solidFill>
            <a:srgbClr val="F2EBDD"/>
          </a:solidFill>
          <a:ln w="12700">
            <a:solidFill>
              <a:srgbClr val="B7AC9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117043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robustness before structural upgrades or final slides.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737360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Run A+B+C+D+E robustness.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029968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Upgrade E with a structural-connectome graph.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2322576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Upgrade receptor priors with PET-derived 5-HT2A maps.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2615184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Run Schaefer/Yeo sensitivity for C/D.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2907792"/>
            <a:ext cx="11313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Build final defense deck after the robustness story stabilizes.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Defense presentation</dc:title>
  <dc:subject>Defense presentation</dc:subject>
  <dc:creator>OpenAI</dc:creator>
  <cp:lastModifiedBy>OpenAI</cp:lastModifiedBy>
  <cp:revision>1</cp:revision>
  <dcterms:created xsi:type="dcterms:W3CDTF">2026-05-19T19:17:19Z</dcterms:created>
  <dcterms:modified xsi:type="dcterms:W3CDTF">2026-05-19T19:17:19Z</dcterms:modified>
</cp:coreProperties>
</file>
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Transparent Surrogate Modeling of Altered-State-Inspired Macro-Dynamics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9" name="Text 7"/>
          <p:cNvSpPr/>
          <p:nvPr/>
        </p:nvSpPr>
        <p:spPr>
          <a:xfrm>
            <a:off x="457200" y="2983992"/>
            <a:ext cx="11313871"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Computational work on psychedelics often faces an immediate tradeoff between interpretability and expressivity. Highly detailed mechanistic models are difficult to justify with available data and often collapse under parameter uncertainty. Highly flexible machine learning models can discover predictive structure, but they usually make it difficult to explain why a result occurred or which mechanistic story a result should support. The repository analyzed here chooses a different path. It asks whether a transparent, low-dimensional, graph-based surrogate can reproduce selected macro-dynamic signatures associated with psychedelic states while remaining narrow in its claims and explicit in its limitations.</a:t>
            </a:r>
            <a:endParaRPr lang="en-US" sz="1200" dirty="0"/>
          </a:p>
        </p:txBody>
      </p:sp>
      <p:sp>
        <p:nvSpPr>
          <p:cNvPr id="10" name="Text 8"/>
          <p:cNvSpPr/>
          <p:nvPr/>
        </p:nvSpPr>
        <p:spPr>
          <a:xfrm>
            <a:off x="438912" y="44256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opening framing slide.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Scope and Claim Boundaries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2/15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200" dirty="0"/>
          </a:p>
        </p:txBody>
      </p:sp>
      <p:sp>
        <p:nvSpPr>
          <p:cNvPr id="9" name="Text 7"/>
          <p:cNvSpPr/>
          <p:nvPr/>
        </p:nvSpPr>
        <p:spPr>
          <a:xfrm>
            <a:off x="457200" y="2822448"/>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10" name="Text 8"/>
          <p:cNvSpPr/>
          <p:nvPr/>
        </p:nvSpPr>
        <p:spPr>
          <a:xfrm>
            <a:off x="457200" y="3758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around four linked research questions.</a:t>
            </a:r>
            <a:endParaRPr lang="en-US" sz="1200" dirty="0"/>
          </a:p>
        </p:txBody>
      </p:sp>
      <p:sp>
        <p:nvSpPr>
          <p:cNvPr id="11" name="Text 9"/>
          <p:cNvSpPr/>
          <p:nvPr/>
        </p:nvSpPr>
        <p:spPr>
          <a:xfrm>
            <a:off x="457200" y="405079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a small graph-coupled surrogate model generate macro-scale signatures associated with altered-state-like brain dynamics while preserving interpretability?</a:t>
            </a:r>
            <a:endParaRPr lang="en-US" sz="1200" dirty="0"/>
          </a:p>
        </p:txBody>
      </p:sp>
      <p:sp>
        <p:nvSpPr>
          <p:cNvPr id="12" name="Text 10"/>
          <p:cNvSpPr/>
          <p:nvPr/>
        </p:nvSpPr>
        <p:spPr>
          <a:xfrm>
            <a:off x="457200" y="45018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real placebo resting-state summaries extracted from ds003059 be used to calibrate a sober reference regime for that surrogate model?</a:t>
            </a:r>
            <a:endParaRPr lang="en-US" sz="1200" dirty="0"/>
          </a:p>
        </p:txBody>
      </p:sp>
      <p:sp>
        <p:nvSpPr>
          <p:cNvPr id="13" name="Text 11"/>
          <p:cNvSpPr/>
          <p:nvPr/>
        </p:nvSpPr>
        <p:spPr>
          <a:xfrm>
            <a:off x="438912" y="513588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Repository Workflow</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200" dirty="0"/>
          </a:p>
        </p:txBody>
      </p:sp>
      <p:sp>
        <p:nvSpPr>
          <p:cNvPr id="9" name="Text 7"/>
          <p:cNvSpPr/>
          <p:nvPr/>
        </p:nvSpPr>
        <p:spPr>
          <a:xfrm>
            <a:off x="457200" y="24825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generates synthetic baseline and perturbed simulations and saves graphs, activity traces, FC matrices, diversity summaries, and switching summaries.</a:t>
            </a:r>
            <a:endParaRPr lang="en-US" sz="1200" dirty="0"/>
          </a:p>
        </p:txBody>
      </p:sp>
      <p:sp>
        <p:nvSpPr>
          <p:cNvPr id="10" name="Text 8"/>
          <p:cNvSpPr/>
          <p:nvPr/>
        </p:nvSpPr>
        <p:spPr>
          <a:xfrm>
            <a:off x="457200" y="293370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2 either loads preconfigured sober targets or, when the dataset directory is present, generates empirical targets directly from ds003059, fits a sober regime, saves figures, and emits machine-readable provenance.</a:t>
            </a:r>
            <a:endParaRPr lang="en-US" sz="1200" dirty="0"/>
          </a:p>
        </p:txBody>
      </p:sp>
      <p:sp>
        <p:nvSpPr>
          <p:cNvPr id="11" name="Text 9"/>
          <p:cNvSpPr/>
          <p:nvPr/>
        </p:nvSpPr>
        <p:spPr>
          <a:xfrm>
            <a:off x="457200" y="33848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3 fits a sober reference regime again, applies a grid of perturbation mechanisms, and ranks them against empirical LSD-minus-placebo target deltas.</a:t>
            </a:r>
            <a:endParaRPr lang="en-US" sz="1200" dirty="0"/>
          </a:p>
        </p:txBody>
      </p:sp>
      <p:sp>
        <p:nvSpPr>
          <p:cNvPr id="12" name="Text 10"/>
          <p:cNvSpPr/>
          <p:nvPr/>
        </p:nvSpPr>
        <p:spPr>
          <a:xfrm>
            <a:off x="457200" y="3835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4 performs single-mechanism and pairwise ablation analysis using the best available strengths from Stage 3.</a:t>
            </a:r>
            <a:endParaRPr lang="en-US" sz="1200" dirty="0"/>
          </a:p>
        </p:txBody>
      </p:sp>
      <p:sp>
        <p:nvSpPr>
          <p:cNvPr id="13" name="Text 11"/>
          <p:cNvSpPr/>
          <p:nvPr/>
        </p:nvSpPr>
        <p:spPr>
          <a:xfrm>
            <a:off x="438912" y="43113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Model Assumptions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4/15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barrier term determines how deep or shallow a module's local metastable landscape is within the model.</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rigidity term determines how strongly a module is pulled back toward its baseline.</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adaptation term discourages indefinite occupation of the same state.</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graph coupling term allows neighboring modules to influence one another through a weighted adjacency matrix.</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Dataset and Macro-Module Extraction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5/15</a:t>
            </a:r>
            <a:endParaRPr lang="en-US" sz="1100" dirty="0"/>
          </a:p>
        </p:txBody>
      </p:sp>
      <p:sp>
        <p:nvSpPr>
          <p:cNvPr id="6" name="Shape 4"/>
          <p:cNvSpPr/>
          <p:nvPr/>
        </p:nvSpPr>
        <p:spPr>
          <a:xfrm>
            <a:off x="438912" y="1097280"/>
            <a:ext cx="11313871" cy="1143000"/>
          </a:xfrm>
          <a:prstGeom prst="roundRect">
            <a:avLst>
              <a:gd name="adj" fmla="val 9600"/>
            </a:avLst>
          </a:prstGeom>
          <a:solidFill>
            <a:srgbClr val="F2EBDD"/>
          </a:solidFill>
          <a:ln w="12700">
            <a:solidFill>
              <a:srgbClr val="B7AC97"/>
            </a:solidFill>
            <a:prstDash val="solid"/>
          </a:ln>
        </p:spPr>
      </p:sp>
      <p:sp>
        <p:nvSpPr>
          <p:cNvPr id="7" name="Text 5"/>
          <p:cNvSpPr/>
          <p:nvPr/>
        </p:nvSpPr>
        <p:spPr>
          <a:xfrm>
            <a:off x="566928" y="1170432"/>
            <a:ext cx="11057839" cy="1033272"/>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300" dirty="0"/>
          </a:p>
        </p:txBody>
      </p:sp>
      <p:sp>
        <p:nvSpPr>
          <p:cNvPr id="8" name="Text 6"/>
          <p:cNvSpPr/>
          <p:nvPr/>
        </p:nvSpPr>
        <p:spPr>
          <a:xfrm>
            <a:off x="457200" y="2404872"/>
            <a:ext cx="11313871" cy="1042416"/>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200" dirty="0"/>
          </a:p>
        </p:txBody>
      </p:sp>
      <p:sp>
        <p:nvSpPr>
          <p:cNvPr id="9" name="Text 7"/>
          <p:cNvSpPr/>
          <p:nvPr/>
        </p:nvSpPr>
        <p:spPr>
          <a:xfrm>
            <a:off x="457200" y="350215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sessions ses-LSD and ses-PLCB</a:t>
            </a:r>
            <a:endParaRPr lang="en-US" sz="1200" dirty="0"/>
          </a:p>
        </p:txBody>
      </p:sp>
      <p:sp>
        <p:nvSpPr>
          <p:cNvPr id="10" name="Text 8"/>
          <p:cNvSpPr/>
          <p:nvPr/>
        </p:nvSpPr>
        <p:spPr>
          <a:xfrm>
            <a:off x="457200" y="37947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task-rest runs only</a:t>
            </a:r>
            <a:endParaRPr lang="en-US" sz="1200" dirty="0"/>
          </a:p>
        </p:txBody>
      </p:sp>
      <p:sp>
        <p:nvSpPr>
          <p:cNvPr id="11" name="Text 9"/>
          <p:cNvSpPr/>
          <p:nvPr/>
        </p:nvSpPr>
        <p:spPr>
          <a:xfrm>
            <a:off x="457200" y="40873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run-01 and run-03</a:t>
            </a:r>
            <a:endParaRPr lang="en-US" sz="1200" dirty="0"/>
          </a:p>
        </p:txBody>
      </p:sp>
      <p:sp>
        <p:nvSpPr>
          <p:cNvPr id="12" name="Text 10"/>
          <p:cNvSpPr/>
          <p:nvPr/>
        </p:nvSpPr>
        <p:spPr>
          <a:xfrm>
            <a:off x="457200" y="437997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key compression step in the repository is the conversion of volumetric BOLD data into eight coarse module time series. This is implemented in src/lsd_thesis/data/ds003059.py. The repository uses a transparent proxy mapping built from the Harvard-Oxford cortical and subcortical atlases as fetched through Nilearn. Each of the eight target modules is associated with a small set of cortical and, when relevant, subcortical atlas labels. These labels are merged into a custom integer-valued label image, and average time series are then extracted for each module.</a:t>
            </a:r>
            <a:endParaRPr lang="en-US" sz="1200" dirty="0"/>
          </a:p>
        </p:txBody>
      </p:sp>
      <p:sp>
        <p:nvSpPr>
          <p:cNvPr id="13" name="Text 11"/>
          <p:cNvSpPr/>
          <p:nvPr/>
        </p:nvSpPr>
        <p:spPr>
          <a:xfrm>
            <a:off x="438912" y="549859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Shared Observable Space</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6/15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within-network stability: mean FC among modules belonging to the same coarse group</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cross-network communication: mean FC among modules belonging to different coarse groups</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thalamic coupling: mean FC between the thalamic gateway module and all other modules</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hierarchical compression: correlation between mean sensory and associative signals</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1 Synthetic Shift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7/15</a:t>
            </a:r>
            <a:endParaRPr lang="en-US" sz="1100" dirty="0"/>
          </a:p>
        </p:txBody>
      </p:sp>
      <p:sp>
        <p:nvSpPr>
          <p:cNvPr id="6" name="Shape 4"/>
          <p:cNvSpPr/>
          <p:nvPr/>
        </p:nvSpPr>
        <p:spPr>
          <a:xfrm>
            <a:off x="438912" y="1097280"/>
            <a:ext cx="5486400" cy="1321308"/>
          </a:xfrm>
          <a:prstGeom prst="roundRect">
            <a:avLst>
              <a:gd name="adj" fmla="val 8304"/>
            </a:avLst>
          </a:prstGeom>
          <a:solidFill>
            <a:srgbClr val="F2EBDD"/>
          </a:solidFill>
          <a:ln w="12700">
            <a:solidFill>
              <a:srgbClr val="B7AC97"/>
            </a:solidFill>
            <a:prstDash val="solid"/>
          </a:ln>
        </p:spPr>
      </p:sp>
      <p:sp>
        <p:nvSpPr>
          <p:cNvPr id="7" name="Text 5"/>
          <p:cNvSpPr/>
          <p:nvPr/>
        </p:nvSpPr>
        <p:spPr>
          <a:xfrm>
            <a:off x="566928" y="1170432"/>
            <a:ext cx="5230368" cy="121158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300" dirty="0"/>
          </a:p>
        </p:txBody>
      </p:sp>
      <p:sp>
        <p:nvSpPr>
          <p:cNvPr id="8" name="Text 6"/>
          <p:cNvSpPr/>
          <p:nvPr/>
        </p:nvSpPr>
        <p:spPr>
          <a:xfrm>
            <a:off x="457200" y="2583180"/>
            <a:ext cx="5486400"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200" dirty="0"/>
          </a:p>
        </p:txBody>
      </p:sp>
      <p:sp>
        <p:nvSpPr>
          <p:cNvPr id="9" name="Text 7"/>
          <p:cNvSpPr/>
          <p:nvPr/>
        </p:nvSpPr>
        <p:spPr>
          <a:xfrm>
            <a:off x="457200" y="3842004"/>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entropy: 0.9890</a:t>
            </a:r>
            <a:endParaRPr lang="en-US" sz="1200" dirty="0"/>
          </a:p>
        </p:txBody>
      </p:sp>
      <p:sp>
        <p:nvSpPr>
          <p:cNvPr id="10" name="Text 8"/>
          <p:cNvSpPr/>
          <p:nvPr/>
        </p:nvSpPr>
        <p:spPr>
          <a:xfrm>
            <a:off x="457200" y="4134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entropy: 0.9976</a:t>
            </a:r>
            <a:endParaRPr lang="en-US" sz="1200" dirty="0"/>
          </a:p>
        </p:txBody>
      </p:sp>
      <p:sp>
        <p:nvSpPr>
          <p:cNvPr id="11" name="Text 9"/>
          <p:cNvSpPr/>
          <p:nvPr/>
        </p:nvSpPr>
        <p:spPr>
          <a:xfrm>
            <a:off x="457200" y="4427220"/>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switching rate: 0.1471</a:t>
            </a:r>
            <a:endParaRPr lang="en-US" sz="1200" dirty="0"/>
          </a:p>
        </p:txBody>
      </p:sp>
      <p:sp>
        <p:nvSpPr>
          <p:cNvPr id="12" name="Text 10"/>
          <p:cNvSpPr/>
          <p:nvPr/>
        </p:nvSpPr>
        <p:spPr>
          <a:xfrm>
            <a:off x="457200" y="4719828"/>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switching rate: 0.2032</a:t>
            </a:r>
            <a:endParaRPr lang="en-US" sz="1200" dirty="0"/>
          </a:p>
        </p:txBody>
      </p:sp>
      <p:sp>
        <p:nvSpPr>
          <p:cNvPr id="13" name="Text 11"/>
          <p:cNvSpPr/>
          <p:nvPr/>
        </p:nvSpPr>
        <p:spPr>
          <a:xfrm>
            <a:off x="438912" y="5158740"/>
            <a:ext cx="5486400" cy="575056"/>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These are surrogate macro-dynamics only. They do not claim receptor-level realism, subjective experience, or direct biological measurement.</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1_metric_shift.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1 compares baseline and perturbed proxy values for entropy and switching rate with units shown on the axis labels. - Stage 1 compares baseline and perturbed proxy values for entropy and switching rate with units shown on the axis labels.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2 Empirical Bridge and Fit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8/15</a:t>
            </a:r>
            <a:endParaRPr lang="en-US" sz="1100" dirty="0"/>
          </a:p>
        </p:txBody>
      </p:sp>
      <p:sp>
        <p:nvSpPr>
          <p:cNvPr id="6" name="Shape 4"/>
          <p:cNvSpPr/>
          <p:nvPr/>
        </p:nvSpPr>
        <p:spPr>
          <a:xfrm>
            <a:off x="438912" y="1097280"/>
            <a:ext cx="5486400"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5230368"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300" dirty="0"/>
          </a:p>
        </p:txBody>
      </p:sp>
      <p:sp>
        <p:nvSpPr>
          <p:cNvPr id="8" name="Text 6"/>
          <p:cNvSpPr/>
          <p:nvPr/>
        </p:nvSpPr>
        <p:spPr>
          <a:xfrm>
            <a:off x="457200" y="2226564"/>
            <a:ext cx="5486400"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200" dirty="0"/>
          </a:p>
        </p:txBody>
      </p:sp>
      <p:sp>
        <p:nvSpPr>
          <p:cNvPr id="9" name="Text 7"/>
          <p:cNvSpPr/>
          <p:nvPr/>
        </p:nvSpPr>
        <p:spPr>
          <a:xfrm>
            <a:off x="457200" y="3162300"/>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code queries the OpenNeuro GraphQL API to reconstruct the dataset file tree.</a:t>
            </a:r>
            <a:endParaRPr lang="en-US" sz="1200" dirty="0"/>
          </a:p>
        </p:txBody>
      </p:sp>
      <p:sp>
        <p:nvSpPr>
          <p:cNvPr id="10" name="Text 8"/>
          <p:cNvSpPr/>
          <p:nvPr/>
        </p:nvSpPr>
        <p:spPr>
          <a:xfrm>
            <a:off x="457200" y="3613404"/>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filters that file tree to the exact sessions and runs required for the study design.</a:t>
            </a:r>
            <a:endParaRPr lang="en-US" sz="1200" dirty="0"/>
          </a:p>
        </p:txBody>
      </p:sp>
      <p:sp>
        <p:nvSpPr>
          <p:cNvPr id="11" name="Text 9"/>
          <p:cNvSpPr/>
          <p:nvPr/>
        </p:nvSpPr>
        <p:spPr>
          <a:xfrm>
            <a:off x="457200" y="4064508"/>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downloads only the BOLD files required for the selected rest runs.</a:t>
            </a:r>
            <a:endParaRPr lang="en-US" sz="1200" dirty="0"/>
          </a:p>
        </p:txBody>
      </p:sp>
      <p:sp>
        <p:nvSpPr>
          <p:cNvPr id="12" name="Text 10"/>
          <p:cNvSpPr/>
          <p:nvPr/>
        </p:nvSpPr>
        <p:spPr>
          <a:xfrm>
            <a:off x="457200" y="4515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extracts module time series for each run.</a:t>
            </a:r>
            <a:endParaRPr lang="en-US" sz="1200" dirty="0"/>
          </a:p>
        </p:txBody>
      </p:sp>
      <p:sp>
        <p:nvSpPr>
          <p:cNvPr id="13" name="Text 11"/>
          <p:cNvSpPr/>
          <p:nvPr/>
        </p:nvSpPr>
        <p:spPr>
          <a:xfrm>
            <a:off x="438912" y="4954524"/>
            <a:ext cx="5486400" cy="700532"/>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This figure summarizes a cached benchmark anchored to OpenNeuro ds003059 placebo resting-state summary (15 session averages). It is evidence of fit quality and run-to-run consistency, not a proof of generalization.</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2_fit_robustness.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2 compares the initial objective with the selected score from the optimization step and summarizes limited repeatability evidence. - Stage 2 compares the initial objective with the selected score from the optimization step and summarizes limited repeatability evidence.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CV5 Internal Validation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9/15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Approved preliminary five-fold subject-disjoint internal validation is complete; this is not external or clinical validation.</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Five folds cover the 15 complete paired subjects, with 3 held out per fold.</a:t>
            </a:r>
            <a:endParaRPr lang="en-US" sz="1200" dirty="0"/>
          </a:p>
        </p:txBody>
      </p:sp>
      <p:sp>
        <p:nvSpPr>
          <p:cNvPr id="9" name="Text 7"/>
          <p:cNvSpPr/>
          <p:nvPr/>
        </p:nvSpPr>
        <p:spPr>
          <a:xfrm>
            <a:off x="457200" y="20299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Fold metrics are descriptive internal-validation summaries, not confidence intervals.</a:t>
            </a:r>
            <a:endParaRPr lang="en-US" sz="1200" dirty="0"/>
          </a:p>
        </p:txBody>
      </p:sp>
      <p:sp>
        <p:nvSpPr>
          <p:cNvPr id="10" name="Text 8"/>
          <p:cNvSpPr/>
          <p:nvPr/>
        </p:nvSpPr>
        <p:spPr>
          <a:xfrm>
            <a:off x="457200" y="232257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No subject-level motion, FD/DVARS, confound, or censoring stratification was available.</a:t>
            </a:r>
            <a:endParaRPr lang="en-US" sz="1200" dirty="0"/>
          </a:p>
        </p:txBody>
      </p:sp>
      <p:sp>
        <p:nvSpPr>
          <p:cNvPr id="11" name="Text 9"/>
          <p:cNvSpPr/>
          <p:nvPr/>
        </p:nvSpPr>
        <p:spPr>
          <a:xfrm>
            <a:off x="457200" y="2615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selected perturbation family is a proxy-objective result, not proof of a biological mechanism.</a:t>
            </a:r>
            <a:endParaRPr lang="en-US" sz="1200" dirty="0"/>
          </a:p>
        </p:txBody>
      </p:sp>
      <p:sp>
        <p:nvSpPr>
          <p:cNvPr id="12" name="Text 10"/>
          <p:cNvSpPr/>
          <p:nvPr/>
        </p:nvSpPr>
        <p:spPr>
          <a:xfrm>
            <a:off x="438912" y="3090672"/>
            <a:ext cx="11313871" cy="324104"/>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scope slide derived from the CV5 validation section.  Internal validation only; not external or clinical validation, and not subjective-state evidence.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3 Perturbation-Family Ranking</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10/15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cross-talk</a:t>
            </a:r>
            <a:endParaRPr lang="en-US" sz="1200" dirty="0"/>
          </a:p>
        </p:txBody>
      </p:sp>
      <p:sp>
        <p:nvSpPr>
          <p:cNvPr id="10" name="Text 8"/>
          <p:cNvSpPr/>
          <p:nvPr/>
        </p:nvSpPr>
        <p:spPr>
          <a:xfrm>
            <a:off x="457200" y="277520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less hierarchical constraint</a:t>
            </a:r>
            <a:endParaRPr lang="en-US" sz="1200" dirty="0"/>
          </a:p>
        </p:txBody>
      </p:sp>
      <p:sp>
        <p:nvSpPr>
          <p:cNvPr id="11" name="Text 9"/>
          <p:cNvSpPr/>
          <p:nvPr/>
        </p:nvSpPr>
        <p:spPr>
          <a:xfrm>
            <a:off x="457200" y="306781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stochasticity</a:t>
            </a:r>
            <a:endParaRPr lang="en-US" sz="1200" dirty="0"/>
          </a:p>
        </p:txBody>
      </p:sp>
      <p:sp>
        <p:nvSpPr>
          <p:cNvPr id="12" name="Text 10"/>
          <p:cNvSpPr/>
          <p:nvPr/>
        </p:nvSpPr>
        <p:spPr>
          <a:xfrm>
            <a:off x="457200" y="336042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lower switching barrier</a:t>
            </a:r>
            <a:endParaRPr lang="en-US" sz="1200" dirty="0"/>
          </a:p>
        </p:txBody>
      </p:sp>
      <p:sp>
        <p:nvSpPr>
          <p:cNvPr id="13" name="Text 11"/>
          <p:cNvSpPr/>
          <p:nvPr/>
        </p:nvSpPr>
        <p:spPr>
          <a:xfrm>
            <a:off x="438912" y="3835908"/>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4 Ablation and Pairwise Tests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11/15</a:t>
            </a:r>
            <a:endParaRPr lang="en-US" sz="1100" dirty="0"/>
          </a:p>
        </p:txBody>
      </p:sp>
      <p:sp>
        <p:nvSpPr>
          <p:cNvPr id="6" name="Shape 4"/>
          <p:cNvSpPr/>
          <p:nvPr/>
        </p:nvSpPr>
        <p:spPr>
          <a:xfrm>
            <a:off x="438912" y="1097280"/>
            <a:ext cx="11313871"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11057839"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300" dirty="0"/>
          </a:p>
        </p:txBody>
      </p:sp>
      <p:sp>
        <p:nvSpPr>
          <p:cNvPr id="8" name="Text 6"/>
          <p:cNvSpPr/>
          <p:nvPr/>
        </p:nvSpPr>
        <p:spPr>
          <a:xfrm>
            <a:off x="457200" y="2226564"/>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200" dirty="0"/>
          </a:p>
        </p:txBody>
      </p:sp>
      <p:sp>
        <p:nvSpPr>
          <p:cNvPr id="9" name="Text 7"/>
          <p:cNvSpPr/>
          <p:nvPr/>
        </p:nvSpPr>
        <p:spPr>
          <a:xfrm>
            <a:off x="457200" y="316230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mechanism: lower_switching_barrier</a:t>
            </a:r>
            <a:endParaRPr lang="en-US" sz="1200" dirty="0"/>
          </a:p>
        </p:txBody>
      </p:sp>
      <p:sp>
        <p:nvSpPr>
          <p:cNvPr id="10" name="Text 8"/>
          <p:cNvSpPr/>
          <p:nvPr/>
        </p:nvSpPr>
        <p:spPr>
          <a:xfrm>
            <a:off x="457200" y="3454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score: 5028.2029</a:t>
            </a:r>
            <a:endParaRPr lang="en-US" sz="1200" dirty="0"/>
          </a:p>
        </p:txBody>
      </p:sp>
      <p:sp>
        <p:nvSpPr>
          <p:cNvPr id="11" name="Text 9"/>
          <p:cNvSpPr/>
          <p:nvPr/>
        </p:nvSpPr>
        <p:spPr>
          <a:xfrm>
            <a:off x="457200" y="37475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mechanism: less_hierarchical_constraint+lower_switching_barrier</a:t>
            </a:r>
            <a:endParaRPr lang="en-US" sz="1200" dirty="0"/>
          </a:p>
        </p:txBody>
      </p:sp>
      <p:sp>
        <p:nvSpPr>
          <p:cNvPr id="12" name="Text 10"/>
          <p:cNvSpPr/>
          <p:nvPr/>
        </p:nvSpPr>
        <p:spPr>
          <a:xfrm>
            <a:off x="457200" y="404012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score: 4819.2698</a:t>
            </a:r>
            <a:endParaRPr lang="en-US" sz="1200" dirty="0"/>
          </a:p>
        </p:txBody>
      </p:sp>
      <p:sp>
        <p:nvSpPr>
          <p:cNvPr id="13" name="Text 11"/>
          <p:cNvSpPr/>
          <p:nvPr/>
        </p:nvSpPr>
        <p:spPr>
          <a:xfrm>
            <a:off x="438912" y="451561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Dashboard and Artifact Layer</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12/15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 model explorer for synthetic simulations, adjustable parameters, and FC or ablation outputs.</a:t>
            </a:r>
            <a:endParaRPr lang="en-US" sz="1200" dirty="0"/>
          </a:p>
        </p:txBody>
      </p:sp>
      <p:sp>
        <p:nvSpPr>
          <p:cNvPr id="10" name="Text 8"/>
          <p:cNvSpPr/>
          <p:nvPr/>
        </p:nvSpPr>
        <p:spPr>
          <a:xfrm>
            <a:off x="457200" y="27752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An empirical explorer for group-level placebo versus LSD summaries, paired subject/run inspection, windowed FC changes, module traces, and downsampled window-averaged preview slices.</a:t>
            </a:r>
            <a:endParaRPr lang="en-US" sz="1200" dirty="0"/>
          </a:p>
        </p:txBody>
      </p:sp>
      <p:sp>
        <p:nvSpPr>
          <p:cNvPr id="11" name="Text 9"/>
          <p:cNvSpPr/>
          <p:nvPr/>
        </p:nvSpPr>
        <p:spPr>
          <a:xfrm>
            <a:off x="457200" y="32263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subject selection</a:t>
            </a:r>
            <a:endParaRPr lang="en-US" sz="1200" dirty="0"/>
          </a:p>
        </p:txBody>
      </p:sp>
      <p:sp>
        <p:nvSpPr>
          <p:cNvPr id="12" name="Text 10"/>
          <p:cNvSpPr/>
          <p:nvPr/>
        </p:nvSpPr>
        <p:spPr>
          <a:xfrm>
            <a:off x="457200" y="35189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 selection</a:t>
            </a:r>
            <a:endParaRPr lang="en-US" sz="1200" dirty="0"/>
          </a:p>
        </p:txBody>
      </p:sp>
      <p:sp>
        <p:nvSpPr>
          <p:cNvPr id="13" name="Text 11"/>
          <p:cNvSpPr/>
          <p:nvPr/>
        </p:nvSpPr>
        <p:spPr>
          <a:xfrm>
            <a:off x="438912" y="399440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Training Benchmarks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200" dirty="0"/>
          </a:p>
        </p:txBody>
      </p:sp>
      <p:sp>
        <p:nvSpPr>
          <p:cNvPr id="9" name="Text 7"/>
          <p:cNvSpPr/>
          <p:nvPr/>
        </p:nvSpPr>
        <p:spPr>
          <a:xfrm>
            <a:off x="438912" y="266547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What Worked, What Failed, and Validity Risks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14/15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200" dirty="0"/>
          </a:p>
        </p:txBody>
      </p:sp>
      <p:sp>
        <p:nvSpPr>
          <p:cNvPr id="9" name="Text 7"/>
          <p:cNvSpPr/>
          <p:nvPr/>
        </p:nvSpPr>
        <p:spPr>
          <a:xfrm>
            <a:off x="457200" y="2029968"/>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strongest when it admits its current failures. Several weaknesses should be framed openly rather than defensively.</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threats to validity fall into four categories: construct validity, internal validity, external validity, and reproducibility validity.</a:t>
            </a:r>
            <a:endParaRPr lang="en-US" sz="1200" dirty="0"/>
          </a:p>
        </p:txBody>
      </p:sp>
      <p:sp>
        <p:nvSpPr>
          <p:cNvPr id="11" name="Text 9"/>
          <p:cNvSpPr/>
          <p:nvPr/>
        </p:nvSpPr>
        <p:spPr>
          <a:xfrm>
            <a:off x="438912" y="311505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Defendable Conclusion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15/15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300" dirty="0"/>
          </a:p>
        </p:txBody>
      </p:sp>
      <p:sp>
        <p:nvSpPr>
          <p:cNvPr id="8" name="Text 6"/>
          <p:cNvSpPr/>
          <p:nvPr/>
        </p:nvSpPr>
        <p:spPr>
          <a:xfrm>
            <a:off x="457200" y="173736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200" dirty="0"/>
          </a:p>
        </p:txBody>
      </p:sp>
      <p:sp>
        <p:nvSpPr>
          <p:cNvPr id="9" name="Text 7"/>
          <p:cNvSpPr/>
          <p:nvPr/>
        </p:nvSpPr>
        <p:spPr>
          <a:xfrm>
            <a:off x="457200" y="21884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implements a transparent graph-based surrogate model for macro-scale altered-state-inspired dynamics.</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derives placebo and LSD-minus-placebo target summaries from a real public neuroimaging dataset rather than relying only on literature summaries.</a:t>
            </a:r>
            <a:endParaRPr lang="en-US" sz="1200" dirty="0"/>
          </a:p>
        </p:txBody>
      </p:sp>
      <p:sp>
        <p:nvSpPr>
          <p:cNvPr id="11" name="Text 9"/>
          <p:cNvSpPr/>
          <p:nvPr/>
        </p:nvSpPr>
        <p:spPr>
          <a:xfrm>
            <a:off x="457200" y="293217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placebo-derived calibration can better align a sober reference regime under the chosen objective.</a:t>
            </a:r>
            <a:endParaRPr lang="en-US" sz="1200" dirty="0"/>
          </a:p>
        </p:txBody>
      </p:sp>
      <p:sp>
        <p:nvSpPr>
          <p:cNvPr id="12" name="Text 10"/>
          <p:cNvSpPr/>
          <p:nvPr/>
        </p:nvSpPr>
        <p:spPr>
          <a:xfrm>
            <a:off x="457200" y="338328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the current model class and the current eight-module extraction are insufficient to reproduce the full empirical altered-state signature robustly.</a:t>
            </a:r>
            <a:endParaRPr lang="en-US" sz="1200" dirty="0"/>
          </a:p>
        </p:txBody>
      </p:sp>
      <p:sp>
        <p:nvSpPr>
          <p:cNvPr id="13" name="Text 11"/>
          <p:cNvSpPr/>
          <p:nvPr/>
        </p:nvSpPr>
        <p:spPr>
          <a:xfrm>
            <a:off x="438912" y="401726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Defense presentation</dc:title>
  <dc:subject>Defense presentation</dc:subject>
  <dc:creator>OpenAI</dc:creator>
  <cp:lastModifiedBy>OpenAI</cp:lastModifiedBy>
  <cp:revision>1</cp:revision>
  <dcterms:created xsi:type="dcterms:W3CDTF">2026-05-28T08:50:20Z</dcterms:created>
  <dcterms:modified xsi:type="dcterms:W3CDTF">2026-05-28T08:50:20Z</dcterms:modified>
</cp:coreProperties>
</file>
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Transparent Surrogate Modeling of Altered-State-Inspired Macro-Dynamics</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1/15</a:t>
            </a:r>
            <a:endParaRPr lang="en-US" sz="1100" dirty="0"/>
          </a:p>
        </p:txBody>
      </p:sp>
      <p:sp>
        <p:nvSpPr>
          <p:cNvPr id="6" name="Shape 4"/>
          <p:cNvSpPr/>
          <p:nvPr/>
        </p:nvSpPr>
        <p:spPr>
          <a:xfrm>
            <a:off x="438912" y="1097280"/>
            <a:ext cx="11313871" cy="786384"/>
          </a:xfrm>
          <a:prstGeom prst="roundRect">
            <a:avLst>
              <a:gd name="adj" fmla="val 13953"/>
            </a:avLst>
          </a:prstGeom>
          <a:solidFill>
            <a:srgbClr val="F2EBDD"/>
          </a:solidFill>
          <a:ln w="12700">
            <a:solidFill>
              <a:srgbClr val="B7AC97"/>
            </a:solidFill>
            <a:prstDash val="solid"/>
          </a:ln>
        </p:spPr>
      </p:sp>
      <p:sp>
        <p:nvSpPr>
          <p:cNvPr id="7" name="Text 5"/>
          <p:cNvSpPr/>
          <p:nvPr/>
        </p:nvSpPr>
        <p:spPr>
          <a:xfrm>
            <a:off x="566928" y="1170432"/>
            <a:ext cx="11057839" cy="676656"/>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This report analyzes the repository as a complete thesis artifact rather than as a conventional software project. The central output of the repository is not a claim that LSD has been mechanistically simulated. Instead, the repository implements a transparent surrogate model of altered-state-inspired macro-dynamics, grounded in coarse whole-brain modules, explicit graph structure, and summary statistics extracted from real resting-state fMRI data.</a:t>
            </a:r>
            <a:endParaRPr lang="en-US" sz="1300" dirty="0"/>
          </a:p>
        </p:txBody>
      </p:sp>
      <p:sp>
        <p:nvSpPr>
          <p:cNvPr id="8" name="Text 6"/>
          <p:cNvSpPr/>
          <p:nvPr/>
        </p:nvSpPr>
        <p:spPr>
          <a:xfrm>
            <a:off x="457200" y="2048256"/>
            <a:ext cx="11313871" cy="880872"/>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This repository implements a transparent surrogate model for altered-state-inspired whole-brain macro-dynamics. The system is explicitly positioned as a graph-modulated macro-scale analogue rather than as a receptor model, a simulator of subjective experience, or a clinical decision system. Its scientific aim is modest but non-trivial: to determine whether a simple, interpretable dynamical system can be fitted to empirical placebo resting-state summaries and then perturbed in ways that partially reproduce LSD-associated changes observed in a real dataset.</a:t>
            </a:r>
            <a:endParaRPr lang="en-US" sz="1200" dirty="0"/>
          </a:p>
        </p:txBody>
      </p:sp>
      <p:sp>
        <p:nvSpPr>
          <p:cNvPr id="9" name="Text 7"/>
          <p:cNvSpPr/>
          <p:nvPr/>
        </p:nvSpPr>
        <p:spPr>
          <a:xfrm>
            <a:off x="457200" y="2983992"/>
            <a:ext cx="11313871" cy="120396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Computational work on psychedelics often faces an immediate tradeoff between interpretability and expressivity. Highly detailed mechanistic models are difficult to justify with available data and often collapse under parameter uncertainty. Highly flexible machine learning models can discover predictive structure, but they usually make it difficult to explain why a result occurred or which mechanistic story a result should support. The repository analyzed here chooses a different path. It asks whether a transparent, low-dimensional, graph-based surrogate can reproduce selected macro-dynamic signatures associated with psychedelic states while remaining narrow in its claims and explicit in its limitations.</a:t>
            </a:r>
            <a:endParaRPr lang="en-US" sz="1200" dirty="0"/>
          </a:p>
        </p:txBody>
      </p:sp>
      <p:sp>
        <p:nvSpPr>
          <p:cNvPr id="10" name="Text 8"/>
          <p:cNvSpPr/>
          <p:nvPr/>
        </p:nvSpPr>
        <p:spPr>
          <a:xfrm>
            <a:off x="438912" y="4425696"/>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Defense opening framing slide.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Scope and Claim Boundaries</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2/15</a:t>
            </a:r>
            <a:endParaRPr lang="en-US" sz="1100" dirty="0"/>
          </a:p>
        </p:txBody>
      </p:sp>
      <p:sp>
        <p:nvSpPr>
          <p:cNvPr id="6" name="Shape 4"/>
          <p:cNvSpPr/>
          <p:nvPr/>
        </p:nvSpPr>
        <p:spPr>
          <a:xfrm>
            <a:off x="438912" y="1097280"/>
            <a:ext cx="11313871" cy="786384"/>
          </a:xfrm>
          <a:prstGeom prst="roundRect">
            <a:avLst>
              <a:gd name="adj" fmla="val 13953"/>
            </a:avLst>
          </a:prstGeom>
          <a:solidFill>
            <a:srgbClr val="F2EBDD"/>
          </a:solidFill>
          <a:ln w="12700">
            <a:solidFill>
              <a:srgbClr val="B7AC97"/>
            </a:solidFill>
            <a:prstDash val="solid"/>
          </a:ln>
        </p:spPr>
      </p:sp>
      <p:sp>
        <p:nvSpPr>
          <p:cNvPr id="7" name="Text 5"/>
          <p:cNvSpPr/>
          <p:nvPr/>
        </p:nvSpPr>
        <p:spPr>
          <a:xfrm>
            <a:off x="566928" y="1170432"/>
            <a:ext cx="11057839" cy="676656"/>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This report analyzes the repository as a complete thesis artifact rather than as a conventional software project. The central output of the repository is not a claim that LSD has been mechanistically simulated. Instead, the repository implements a transparent surrogate model of altered-state-inspired macro-dynamics, grounded in coarse whole-brain modules, explicit graph structure, and summary statistics extracted from real resting-state fMRI data.</a:t>
            </a:r>
            <a:endParaRPr lang="en-US" sz="1300" dirty="0"/>
          </a:p>
        </p:txBody>
      </p:sp>
      <p:sp>
        <p:nvSpPr>
          <p:cNvPr id="8" name="Text 6"/>
          <p:cNvSpPr/>
          <p:nvPr/>
        </p:nvSpPr>
        <p:spPr>
          <a:xfrm>
            <a:off x="457200" y="2048256"/>
            <a:ext cx="11313871" cy="719328"/>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This report analyzes the repository as a complete thesis artifact rather than as a conventional software project. The central output of the repository is not a claim that LSD has been mechanistically simulated. Instead, the repository implements a transparent surrogate model of altered-state-inspired macro-dynamics, grounded in coarse whole-brain modules, explicit graph structure, and summary statistics extracted from real resting-state fMRI data.</a:t>
            </a:r>
            <a:endParaRPr lang="en-US" sz="1200" dirty="0"/>
          </a:p>
        </p:txBody>
      </p:sp>
      <p:sp>
        <p:nvSpPr>
          <p:cNvPr id="9" name="Text 7"/>
          <p:cNvSpPr/>
          <p:nvPr/>
        </p:nvSpPr>
        <p:spPr>
          <a:xfrm>
            <a:off x="457200" y="2822448"/>
            <a:ext cx="11313871" cy="880872"/>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This repository implements a transparent surrogate model for altered-state-inspired whole-brain macro-dynamics. The system is explicitly positioned as a graph-modulated macro-scale analogue rather than as a receptor model, a simulator of subjective experience, or a clinical decision system. Its scientific aim is modest but non-trivial: to determine whether a simple, interpretable dynamical system can be fitted to empirical placebo resting-state summaries and then perturbed in ways that partially reproduce LSD-associated changes observed in a real dataset.</a:t>
            </a:r>
            <a:endParaRPr lang="en-US" sz="1200" dirty="0"/>
          </a:p>
        </p:txBody>
      </p:sp>
      <p:sp>
        <p:nvSpPr>
          <p:cNvPr id="10" name="Text 8"/>
          <p:cNvSpPr/>
          <p:nvPr/>
        </p:nvSpPr>
        <p:spPr>
          <a:xfrm>
            <a:off x="457200" y="3758184"/>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repository is organized around four linked research questions.</a:t>
            </a:r>
            <a:endParaRPr lang="en-US" sz="1200" dirty="0"/>
          </a:p>
        </p:txBody>
      </p:sp>
      <p:sp>
        <p:nvSpPr>
          <p:cNvPr id="11" name="Text 9"/>
          <p:cNvSpPr/>
          <p:nvPr/>
        </p:nvSpPr>
        <p:spPr>
          <a:xfrm>
            <a:off x="457200" y="4050792"/>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Can a small graph-coupled surrogate model generate macro-scale signatures associated with altered-state-like brain dynamics while preserving interpretability?</a:t>
            </a:r>
            <a:endParaRPr lang="en-US" sz="1200" dirty="0"/>
          </a:p>
        </p:txBody>
      </p:sp>
      <p:sp>
        <p:nvSpPr>
          <p:cNvPr id="12" name="Text 10"/>
          <p:cNvSpPr/>
          <p:nvPr/>
        </p:nvSpPr>
        <p:spPr>
          <a:xfrm>
            <a:off x="457200" y="4501896"/>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Can real placebo resting-state summaries extracted from ds003059 be used to calibrate a sober reference regime for that surrogate model?</a:t>
            </a:r>
            <a:endParaRPr lang="en-US" sz="1200" dirty="0"/>
          </a:p>
        </p:txBody>
      </p:sp>
      <p:sp>
        <p:nvSpPr>
          <p:cNvPr id="13" name="Text 11"/>
          <p:cNvSpPr/>
          <p:nvPr/>
        </p:nvSpPr>
        <p:spPr>
          <a:xfrm>
            <a:off x="438912" y="5135880"/>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Repository Workflow</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3/15</a:t>
            </a:r>
            <a:endParaRPr lang="en-US" sz="1100" dirty="0"/>
          </a:p>
        </p:txBody>
      </p:sp>
      <p:sp>
        <p:nvSpPr>
          <p:cNvPr id="6" name="Shape 4"/>
          <p:cNvSpPr/>
          <p:nvPr/>
        </p:nvSpPr>
        <p:spPr>
          <a:xfrm>
            <a:off x="438912" y="1097280"/>
            <a:ext cx="11313871" cy="608076"/>
          </a:xfrm>
          <a:prstGeom prst="roundRect">
            <a:avLst>
              <a:gd name="adj" fmla="val 18045"/>
            </a:avLst>
          </a:prstGeom>
          <a:solidFill>
            <a:srgbClr val="F2EBDD"/>
          </a:solidFill>
          <a:ln w="12700">
            <a:solidFill>
              <a:srgbClr val="B7AC97"/>
            </a:solidFill>
            <a:prstDash val="solid"/>
          </a:ln>
        </p:spPr>
      </p:sp>
      <p:sp>
        <p:nvSpPr>
          <p:cNvPr id="7" name="Text 5"/>
          <p:cNvSpPr/>
          <p:nvPr/>
        </p:nvSpPr>
        <p:spPr>
          <a:xfrm>
            <a:off x="566928" y="1170432"/>
            <a:ext cx="11057839" cy="498348"/>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The repository is organized as a staged scientific pipeline. The top-level script scripts/run_pipeline.py orchestrates the major phases. Its command structure reflects the research workflow rather than a generic software release process.</a:t>
            </a:r>
            <a:endParaRPr lang="en-US" sz="1300" dirty="0"/>
          </a:p>
        </p:txBody>
      </p:sp>
      <p:sp>
        <p:nvSpPr>
          <p:cNvPr id="8" name="Text 6"/>
          <p:cNvSpPr/>
          <p:nvPr/>
        </p:nvSpPr>
        <p:spPr>
          <a:xfrm>
            <a:off x="457200" y="1869948"/>
            <a:ext cx="11313871" cy="55778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repository is organized as a staged scientific pipeline. The top-level script scripts/run_pipeline.py orchestrates the major phases. Its command structure reflects the research workflow rather than a generic software release process.</a:t>
            </a:r>
            <a:endParaRPr lang="en-US" sz="1200" dirty="0"/>
          </a:p>
        </p:txBody>
      </p:sp>
      <p:sp>
        <p:nvSpPr>
          <p:cNvPr id="9" name="Text 7"/>
          <p:cNvSpPr/>
          <p:nvPr/>
        </p:nvSpPr>
        <p:spPr>
          <a:xfrm>
            <a:off x="457200" y="2482596"/>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Stage 1 generates synthetic baseline and perturbed simulations and saves graphs, activity traces, FC matrices, diversity summaries, and switching summaries.</a:t>
            </a:r>
            <a:endParaRPr lang="en-US" sz="1200" dirty="0"/>
          </a:p>
        </p:txBody>
      </p:sp>
      <p:sp>
        <p:nvSpPr>
          <p:cNvPr id="10" name="Text 8"/>
          <p:cNvSpPr/>
          <p:nvPr/>
        </p:nvSpPr>
        <p:spPr>
          <a:xfrm>
            <a:off x="457200" y="2933700"/>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Stage 2 either loads preconfigured sober targets or, when the dataset directory is present, generates empirical targets directly from ds003059, fits a sober regime, saves figures, and emits machine-readable provenance.</a:t>
            </a:r>
            <a:endParaRPr lang="en-US" sz="1200" dirty="0"/>
          </a:p>
        </p:txBody>
      </p:sp>
      <p:sp>
        <p:nvSpPr>
          <p:cNvPr id="11" name="Text 9"/>
          <p:cNvSpPr/>
          <p:nvPr/>
        </p:nvSpPr>
        <p:spPr>
          <a:xfrm>
            <a:off x="457200" y="3384804"/>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Stage 3 fits a sober reference regime again, applies a grid of perturbation mechanisms, and ranks them against empirical LSD-minus-placebo target deltas.</a:t>
            </a:r>
            <a:endParaRPr lang="en-US" sz="1200" dirty="0"/>
          </a:p>
        </p:txBody>
      </p:sp>
      <p:sp>
        <p:nvSpPr>
          <p:cNvPr id="12" name="Text 10"/>
          <p:cNvSpPr/>
          <p:nvPr/>
        </p:nvSpPr>
        <p:spPr>
          <a:xfrm>
            <a:off x="457200" y="3835908"/>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Stage 4 performs single-mechanism and pairwise ablation analysis using the best available strengths from Stage 3.</a:t>
            </a:r>
            <a:endParaRPr lang="en-US" sz="1200" dirty="0"/>
          </a:p>
        </p:txBody>
      </p:sp>
      <p:sp>
        <p:nvSpPr>
          <p:cNvPr id="13" name="Text 11"/>
          <p:cNvSpPr/>
          <p:nvPr/>
        </p:nvSpPr>
        <p:spPr>
          <a:xfrm>
            <a:off x="438912" y="4311396"/>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Model Assumptions</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4/15</a:t>
            </a:r>
            <a:endParaRPr lang="en-US" sz="1100" dirty="0"/>
          </a:p>
        </p:txBody>
      </p:sp>
      <p:sp>
        <p:nvSpPr>
          <p:cNvPr id="6" name="Shape 4"/>
          <p:cNvSpPr/>
          <p:nvPr/>
        </p:nvSpPr>
        <p:spPr>
          <a:xfrm>
            <a:off x="438912" y="1097280"/>
            <a:ext cx="11313871" cy="786384"/>
          </a:xfrm>
          <a:prstGeom prst="roundRect">
            <a:avLst>
              <a:gd name="adj" fmla="val 13953"/>
            </a:avLst>
          </a:prstGeom>
          <a:solidFill>
            <a:srgbClr val="F2EBDD"/>
          </a:solidFill>
          <a:ln w="12700">
            <a:solidFill>
              <a:srgbClr val="B7AC97"/>
            </a:solidFill>
            <a:prstDash val="solid"/>
          </a:ln>
        </p:spPr>
      </p:sp>
      <p:sp>
        <p:nvSpPr>
          <p:cNvPr id="7" name="Text 5"/>
          <p:cNvSpPr/>
          <p:nvPr/>
        </p:nvSpPr>
        <p:spPr>
          <a:xfrm>
            <a:off x="566928" y="1170432"/>
            <a:ext cx="11057839" cy="676656"/>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The central simulator is defined in the project specification as a graph-coupled stochastic dynamical system with adaptation and an optional low-dimensional top-down constraint. In plain form, each module state evolves under the combined effect of a bistable local potential, a restoring rigidity term, an adaptation term, cross-module graph input, a hierarchy-projection constraint, and stochastic noise.</a:t>
            </a:r>
            <a:endParaRPr lang="en-US" sz="1300" dirty="0"/>
          </a:p>
        </p:txBody>
      </p:sp>
      <p:sp>
        <p:nvSpPr>
          <p:cNvPr id="8" name="Text 6"/>
          <p:cNvSpPr/>
          <p:nvPr/>
        </p:nvSpPr>
        <p:spPr>
          <a:xfrm>
            <a:off x="457200" y="2048256"/>
            <a:ext cx="11313871" cy="719328"/>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central simulator is defined in the project specification as a graph-coupled stochastic dynamical system with adaptation and an optional low-dimensional top-down constraint. In plain form, each module state evolves under the combined effect of a bistable local potential, a restoring rigidity term, an adaptation term, cross-module graph input, a hierarchy-projection constraint, and stochastic noise.</a:t>
            </a:r>
            <a:endParaRPr lang="en-US" sz="1200" dirty="0"/>
          </a:p>
        </p:txBody>
      </p:sp>
      <p:sp>
        <p:nvSpPr>
          <p:cNvPr id="9" name="Text 7"/>
          <p:cNvSpPr/>
          <p:nvPr/>
        </p:nvSpPr>
        <p:spPr>
          <a:xfrm>
            <a:off x="457200" y="2822448"/>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barrier term determines how deep or shallow a module's local metastable landscape is within the model.</a:t>
            </a:r>
            <a:endParaRPr lang="en-US" sz="1200" dirty="0"/>
          </a:p>
        </p:txBody>
      </p:sp>
      <p:sp>
        <p:nvSpPr>
          <p:cNvPr id="10" name="Text 8"/>
          <p:cNvSpPr/>
          <p:nvPr/>
        </p:nvSpPr>
        <p:spPr>
          <a:xfrm>
            <a:off x="457200" y="3115056"/>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rigidity term determines how strongly a module is pulled back toward its baseline.</a:t>
            </a:r>
            <a:endParaRPr lang="en-US" sz="1200" dirty="0"/>
          </a:p>
        </p:txBody>
      </p:sp>
      <p:sp>
        <p:nvSpPr>
          <p:cNvPr id="11" name="Text 9"/>
          <p:cNvSpPr/>
          <p:nvPr/>
        </p:nvSpPr>
        <p:spPr>
          <a:xfrm>
            <a:off x="457200" y="3407664"/>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adaptation term discourages indefinite occupation of the same state.</a:t>
            </a:r>
            <a:endParaRPr lang="en-US" sz="1200" dirty="0"/>
          </a:p>
        </p:txBody>
      </p:sp>
      <p:sp>
        <p:nvSpPr>
          <p:cNvPr id="12" name="Text 10"/>
          <p:cNvSpPr/>
          <p:nvPr/>
        </p:nvSpPr>
        <p:spPr>
          <a:xfrm>
            <a:off x="457200" y="3700272"/>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graph coupling term allows neighboring modules to influence one another through a weighted adjacency matrix.</a:t>
            </a:r>
            <a:endParaRPr lang="en-US" sz="1200" dirty="0"/>
          </a:p>
        </p:txBody>
      </p:sp>
      <p:sp>
        <p:nvSpPr>
          <p:cNvPr id="13" name="Text 11"/>
          <p:cNvSpPr/>
          <p:nvPr/>
        </p:nvSpPr>
        <p:spPr>
          <a:xfrm>
            <a:off x="438912" y="4175760"/>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Dataset and Macro-Module Extraction</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5/15</a:t>
            </a:r>
            <a:endParaRPr lang="en-US" sz="1100" dirty="0"/>
          </a:p>
        </p:txBody>
      </p:sp>
      <p:sp>
        <p:nvSpPr>
          <p:cNvPr id="6" name="Shape 4"/>
          <p:cNvSpPr/>
          <p:nvPr/>
        </p:nvSpPr>
        <p:spPr>
          <a:xfrm>
            <a:off x="438912" y="1097280"/>
            <a:ext cx="11313871" cy="1143000"/>
          </a:xfrm>
          <a:prstGeom prst="roundRect">
            <a:avLst>
              <a:gd name="adj" fmla="val 9600"/>
            </a:avLst>
          </a:prstGeom>
          <a:solidFill>
            <a:srgbClr val="F2EBDD"/>
          </a:solidFill>
          <a:ln w="12700">
            <a:solidFill>
              <a:srgbClr val="B7AC97"/>
            </a:solidFill>
            <a:prstDash val="solid"/>
          </a:ln>
        </p:spPr>
      </p:sp>
      <p:sp>
        <p:nvSpPr>
          <p:cNvPr id="7" name="Text 5"/>
          <p:cNvSpPr/>
          <p:nvPr/>
        </p:nvSpPr>
        <p:spPr>
          <a:xfrm>
            <a:off x="566928" y="1170432"/>
            <a:ext cx="11057839" cy="1033272"/>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The empirical branch of the repository is anchored to OpenNeuro dataset ds003059, version 1.0.0. The local dataset metadata present in data/ds003059/dataset_description.json identifies the dataset as a derivative release titled Neural correlates of the LSD experience revealed by multimodal neuroimaging, with BIDS version 1.4.0, license CC0, and dataset DOI 10.18112/openneuro.ds003059.v1.0.0. The local README inside the dataset explicitly states that Rest1 and Rest3 are resting-state scans and that Rest2 is a music condition. The repository therefore excludes run-02 and uses only run-01 and run-03.</a:t>
            </a:r>
            <a:endParaRPr lang="en-US" sz="1300" dirty="0"/>
          </a:p>
        </p:txBody>
      </p:sp>
      <p:sp>
        <p:nvSpPr>
          <p:cNvPr id="8" name="Text 6"/>
          <p:cNvSpPr/>
          <p:nvPr/>
        </p:nvSpPr>
        <p:spPr>
          <a:xfrm>
            <a:off x="457200" y="2404872"/>
            <a:ext cx="11313871" cy="1042416"/>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empirical branch of the repository is anchored to OpenNeuro dataset ds003059, version 1.0.0. The local dataset metadata present in data/ds003059/dataset_description.json identifies the dataset as a derivative release titled Neural correlates of the LSD experience revealed by multimodal neuroimaging, with BIDS version 1.4.0, license CC0, and dataset DOI 10.18112/openneuro.ds003059.v1.0.0. The local README inside the dataset explicitly states that Rest1 and Rest3 are resting-state scans and that Rest2 is a music condition. The repository therefore excludes run-02 and uses only run-01 and run-03.</a:t>
            </a:r>
            <a:endParaRPr lang="en-US" sz="1200" dirty="0"/>
          </a:p>
        </p:txBody>
      </p:sp>
      <p:sp>
        <p:nvSpPr>
          <p:cNvPr id="9" name="Text 7"/>
          <p:cNvSpPr/>
          <p:nvPr/>
        </p:nvSpPr>
        <p:spPr>
          <a:xfrm>
            <a:off x="457200" y="3502152"/>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sessions ses-LSD and ses-PLCB</a:t>
            </a:r>
            <a:endParaRPr lang="en-US" sz="1200" dirty="0"/>
          </a:p>
        </p:txBody>
      </p:sp>
      <p:sp>
        <p:nvSpPr>
          <p:cNvPr id="10" name="Text 8"/>
          <p:cNvSpPr/>
          <p:nvPr/>
        </p:nvSpPr>
        <p:spPr>
          <a:xfrm>
            <a:off x="457200" y="3794760"/>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task-rest runs only</a:t>
            </a:r>
            <a:endParaRPr lang="en-US" sz="1200" dirty="0"/>
          </a:p>
        </p:txBody>
      </p:sp>
      <p:sp>
        <p:nvSpPr>
          <p:cNvPr id="11" name="Text 9"/>
          <p:cNvSpPr/>
          <p:nvPr/>
        </p:nvSpPr>
        <p:spPr>
          <a:xfrm>
            <a:off x="457200" y="4087368"/>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run-01 and run-03</a:t>
            </a:r>
            <a:endParaRPr lang="en-US" sz="1200" dirty="0"/>
          </a:p>
        </p:txBody>
      </p:sp>
      <p:sp>
        <p:nvSpPr>
          <p:cNvPr id="12" name="Text 10"/>
          <p:cNvSpPr/>
          <p:nvPr/>
        </p:nvSpPr>
        <p:spPr>
          <a:xfrm>
            <a:off x="457200" y="4379976"/>
            <a:ext cx="11313871" cy="880872"/>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key compression step in the repository is the conversion of volumetric BOLD data into eight coarse module time series. This is implemented in src/lsd_thesis/data/ds003059.py. The repository uses a transparent proxy mapping built from the Harvard-Oxford cortical and subcortical atlases as fetched through Nilearn. Each of the eight target modules is associated with a small set of cortical and, when relevant, subcortical atlas labels. These labels are merged into a custom integer-valued label image, and average time series are then extracted for each module.</a:t>
            </a:r>
            <a:endParaRPr lang="en-US" sz="1200" dirty="0"/>
          </a:p>
        </p:txBody>
      </p:sp>
      <p:sp>
        <p:nvSpPr>
          <p:cNvPr id="13" name="Text 11"/>
          <p:cNvSpPr/>
          <p:nvPr/>
        </p:nvSpPr>
        <p:spPr>
          <a:xfrm>
            <a:off x="438912" y="5498592"/>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Shared Observable Space</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6/15</a:t>
            </a:r>
            <a:endParaRPr lang="en-US" sz="1100" dirty="0"/>
          </a:p>
        </p:txBody>
      </p:sp>
      <p:sp>
        <p:nvSpPr>
          <p:cNvPr id="6" name="Shape 4"/>
          <p:cNvSpPr/>
          <p:nvPr/>
        </p:nvSpPr>
        <p:spPr>
          <a:xfrm>
            <a:off x="438912" y="1097280"/>
            <a:ext cx="11313871" cy="786384"/>
          </a:xfrm>
          <a:prstGeom prst="roundRect">
            <a:avLst>
              <a:gd name="adj" fmla="val 13953"/>
            </a:avLst>
          </a:prstGeom>
          <a:solidFill>
            <a:srgbClr val="F2EBDD"/>
          </a:solidFill>
          <a:ln w="12700">
            <a:solidFill>
              <a:srgbClr val="B7AC97"/>
            </a:solidFill>
            <a:prstDash val="solid"/>
          </a:ln>
        </p:spPr>
      </p:sp>
      <p:sp>
        <p:nvSpPr>
          <p:cNvPr id="7" name="Text 5"/>
          <p:cNvSpPr/>
          <p:nvPr/>
        </p:nvSpPr>
        <p:spPr>
          <a:xfrm>
            <a:off x="566928" y="1170432"/>
            <a:ext cx="11057839" cy="676656"/>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The repository compares empirical and simulated dynamics in a common metric space. This design choice is one of the most important conceptual commitments in the codebase. Rather than comparing raw time series directly, it compares higher-level observables that are computed in the same way from both empirical module traces and simulated module traces.</a:t>
            </a:r>
            <a:endParaRPr lang="en-US" sz="1300" dirty="0"/>
          </a:p>
        </p:txBody>
      </p:sp>
      <p:sp>
        <p:nvSpPr>
          <p:cNvPr id="8" name="Text 6"/>
          <p:cNvSpPr/>
          <p:nvPr/>
        </p:nvSpPr>
        <p:spPr>
          <a:xfrm>
            <a:off x="457200" y="2048256"/>
            <a:ext cx="11313871" cy="719328"/>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repository compares empirical and simulated dynamics in a common metric space. This design choice is one of the most important conceptual commitments in the codebase. Rather than comparing raw time series directly, it compares higher-level observables that are computed in the same way from both empirical module traces and simulated module traces.</a:t>
            </a:r>
            <a:endParaRPr lang="en-US" sz="1200" dirty="0"/>
          </a:p>
        </p:txBody>
      </p:sp>
      <p:sp>
        <p:nvSpPr>
          <p:cNvPr id="9" name="Text 7"/>
          <p:cNvSpPr/>
          <p:nvPr/>
        </p:nvSpPr>
        <p:spPr>
          <a:xfrm>
            <a:off x="457200" y="2822448"/>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within-network stability: mean FC among modules belonging to the same coarse group</a:t>
            </a:r>
            <a:endParaRPr lang="en-US" sz="1200" dirty="0"/>
          </a:p>
        </p:txBody>
      </p:sp>
      <p:sp>
        <p:nvSpPr>
          <p:cNvPr id="10" name="Text 8"/>
          <p:cNvSpPr/>
          <p:nvPr/>
        </p:nvSpPr>
        <p:spPr>
          <a:xfrm>
            <a:off x="457200" y="3115056"/>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cross-network communication: mean FC among modules belonging to different coarse groups</a:t>
            </a:r>
            <a:endParaRPr lang="en-US" sz="1200" dirty="0"/>
          </a:p>
        </p:txBody>
      </p:sp>
      <p:sp>
        <p:nvSpPr>
          <p:cNvPr id="11" name="Text 9"/>
          <p:cNvSpPr/>
          <p:nvPr/>
        </p:nvSpPr>
        <p:spPr>
          <a:xfrm>
            <a:off x="457200" y="3407664"/>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thalamic coupling: mean FC between the thalamic gateway module and all other modules</a:t>
            </a:r>
            <a:endParaRPr lang="en-US" sz="1200" dirty="0"/>
          </a:p>
        </p:txBody>
      </p:sp>
      <p:sp>
        <p:nvSpPr>
          <p:cNvPr id="12" name="Text 10"/>
          <p:cNvSpPr/>
          <p:nvPr/>
        </p:nvSpPr>
        <p:spPr>
          <a:xfrm>
            <a:off x="457200" y="3700272"/>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hierarchical compression: correlation between mean sensory and associative signals</a:t>
            </a:r>
            <a:endParaRPr lang="en-US" sz="1200" dirty="0"/>
          </a:p>
        </p:txBody>
      </p:sp>
      <p:sp>
        <p:nvSpPr>
          <p:cNvPr id="13" name="Text 11"/>
          <p:cNvSpPr/>
          <p:nvPr/>
        </p:nvSpPr>
        <p:spPr>
          <a:xfrm>
            <a:off x="438912" y="4175760"/>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Stage 1 Synthetic Shift</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7/15</a:t>
            </a:r>
            <a:endParaRPr lang="en-US" sz="1100" dirty="0"/>
          </a:p>
        </p:txBody>
      </p:sp>
      <p:sp>
        <p:nvSpPr>
          <p:cNvPr id="6" name="Shape 4"/>
          <p:cNvSpPr/>
          <p:nvPr/>
        </p:nvSpPr>
        <p:spPr>
          <a:xfrm>
            <a:off x="438912" y="1097280"/>
            <a:ext cx="5486400" cy="1321308"/>
          </a:xfrm>
          <a:prstGeom prst="roundRect">
            <a:avLst>
              <a:gd name="adj" fmla="val 8304"/>
            </a:avLst>
          </a:prstGeom>
          <a:solidFill>
            <a:srgbClr val="F2EBDD"/>
          </a:solidFill>
          <a:ln w="12700">
            <a:solidFill>
              <a:srgbClr val="B7AC97"/>
            </a:solidFill>
            <a:prstDash val="solid"/>
          </a:ln>
        </p:spPr>
      </p:sp>
      <p:sp>
        <p:nvSpPr>
          <p:cNvPr id="7" name="Text 5"/>
          <p:cNvSpPr/>
          <p:nvPr/>
        </p:nvSpPr>
        <p:spPr>
          <a:xfrm>
            <a:off x="566928" y="1170432"/>
            <a:ext cx="5230368" cy="1211580"/>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Stage 1 is the conceptual proof-of-behavior phase. The code runs both the sober baseline regime and the altered-state-inspired YAML regime and compares their outputs on the shared metric space. This stage does not use empirical fitting. It asks whether the hand-designed perturbation at least moves the model in broadly intended directions.</a:t>
            </a:r>
            <a:endParaRPr lang="en-US" sz="1300" dirty="0"/>
          </a:p>
        </p:txBody>
      </p:sp>
      <p:sp>
        <p:nvSpPr>
          <p:cNvPr id="8" name="Text 6"/>
          <p:cNvSpPr/>
          <p:nvPr/>
        </p:nvSpPr>
        <p:spPr>
          <a:xfrm>
            <a:off x="457200" y="2583180"/>
            <a:ext cx="5486400" cy="120396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Stage 1 is the conceptual proof-of-behavior phase. The code runs both the sober baseline regime and the altered-state-inspired YAML regime and compares their outputs on the shared metric space. This stage does not use empirical fitting. It asks whether the hand-designed perturbation at least moves the model in broadly intended directions.</a:t>
            </a:r>
            <a:endParaRPr lang="en-US" sz="1200" dirty="0"/>
          </a:p>
        </p:txBody>
      </p:sp>
      <p:sp>
        <p:nvSpPr>
          <p:cNvPr id="9" name="Text 7"/>
          <p:cNvSpPr/>
          <p:nvPr/>
        </p:nvSpPr>
        <p:spPr>
          <a:xfrm>
            <a:off x="457200" y="3842004"/>
            <a:ext cx="5486400"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baseline entropy: 0.9890</a:t>
            </a:r>
            <a:endParaRPr lang="en-US" sz="1200" dirty="0"/>
          </a:p>
        </p:txBody>
      </p:sp>
      <p:sp>
        <p:nvSpPr>
          <p:cNvPr id="10" name="Text 8"/>
          <p:cNvSpPr/>
          <p:nvPr/>
        </p:nvSpPr>
        <p:spPr>
          <a:xfrm>
            <a:off x="457200" y="4134612"/>
            <a:ext cx="5486400"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perturbed entropy: 0.9976</a:t>
            </a:r>
            <a:endParaRPr lang="en-US" sz="1200" dirty="0"/>
          </a:p>
        </p:txBody>
      </p:sp>
      <p:sp>
        <p:nvSpPr>
          <p:cNvPr id="11" name="Text 9"/>
          <p:cNvSpPr/>
          <p:nvPr/>
        </p:nvSpPr>
        <p:spPr>
          <a:xfrm>
            <a:off x="457200" y="4427220"/>
            <a:ext cx="5486400"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baseline switching rate: 0.1471</a:t>
            </a:r>
            <a:endParaRPr lang="en-US" sz="1200" dirty="0"/>
          </a:p>
        </p:txBody>
      </p:sp>
      <p:sp>
        <p:nvSpPr>
          <p:cNvPr id="12" name="Text 10"/>
          <p:cNvSpPr/>
          <p:nvPr/>
        </p:nvSpPr>
        <p:spPr>
          <a:xfrm>
            <a:off x="457200" y="4719828"/>
            <a:ext cx="5486400"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perturbed switching rate: 0.2032</a:t>
            </a:r>
            <a:endParaRPr lang="en-US" sz="1200" dirty="0"/>
          </a:p>
        </p:txBody>
      </p:sp>
      <p:sp>
        <p:nvSpPr>
          <p:cNvPr id="13" name="Text 11"/>
          <p:cNvSpPr/>
          <p:nvPr/>
        </p:nvSpPr>
        <p:spPr>
          <a:xfrm>
            <a:off x="438912" y="5158740"/>
            <a:ext cx="5486400" cy="575056"/>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  These are surrogate macro-dynamics only. They do not claim receptor-level realism, subjective experience, or direct biological measurement.</a:t>
            </a:r>
            <a:endParaRPr lang="en-US" sz="950" dirty="0"/>
          </a:p>
        </p:txBody>
      </p:sp>
      <p:sp>
        <p:nvSpPr>
          <p:cNvPr id="14" name="Shape 12"/>
          <p:cNvSpPr/>
          <p:nvPr/>
        </p:nvSpPr>
        <p:spPr>
          <a:xfrm>
            <a:off x="6181344" y="1097280"/>
            <a:ext cx="5571439" cy="5285232"/>
          </a:xfrm>
          <a:prstGeom prst="roundRect">
            <a:avLst>
              <a:gd name="adj" fmla="val 2076"/>
            </a:avLst>
          </a:prstGeom>
          <a:solidFill>
            <a:srgbClr val="FFFDF8"/>
          </a:solidFill>
          <a:ln w="12700">
            <a:solidFill>
              <a:srgbClr val="D6CCBC"/>
            </a:solidFill>
            <a:prstDash val="solid"/>
          </a:ln>
        </p:spPr>
      </p:sp>
      <p:pic>
        <p:nvPicPr>
          <p:cNvPr id="15" name="Image 0" descr="D:\LSD_Thesis\output\doc\figures\stage1_metric_shift.png">    </p:cNvPr>
          <p:cNvPicPr>
            <a:picLocks noChangeAspect="1"/>
          </p:cNvPicPr>
          <p:nvPr/>
        </p:nvPicPr>
        <p:blipFill>
          <a:blip r:embed="rId1"/>
          <a:stretch>
            <a:fillRect/>
          </a:stretch>
        </p:blipFill>
        <p:spPr>
          <a:xfrm>
            <a:off x="6291072" y="1976690"/>
            <a:ext cx="5351983" cy="3233804"/>
          </a:xfrm>
          <a:prstGeom prst="rect">
            <a:avLst/>
          </a:prstGeom>
        </p:spPr>
      </p:pic>
      <p:sp>
        <p:nvSpPr>
          <p:cNvPr id="16" name="Text 13"/>
          <p:cNvSpPr/>
          <p:nvPr/>
        </p:nvSpPr>
        <p:spPr>
          <a:xfrm>
            <a:off x="6291072" y="6053328"/>
            <a:ext cx="5351983" cy="237744"/>
          </a:xfrm>
          <a:prstGeom prst="rect">
            <a:avLst/>
          </a:prstGeom>
          <a:noFill/>
          <a:ln/>
        </p:spPr>
        <p:txBody>
          <a:bodyPr wrap="square" lIns="0" tIns="0" rIns="0" bIns="0" rtlCol="0" anchor="ctr"/>
          <a:lstStyle/>
          <a:p>
            <a:pPr algn="l" indent="0" marL="0">
              <a:buNone/>
            </a:pPr>
            <a:r>
              <a:rPr lang="en-US" sz="950" i="1" dirty="0">
                <a:solidFill>
                  <a:srgbClr val="5B6978"/>
                </a:solidFill>
                <a:latin typeface="Aptos" pitchFamily="34" charset="0"/>
                <a:ea typeface="Aptos" pitchFamily="34" charset="-122"/>
                <a:cs typeface="Aptos" pitchFamily="34" charset="-120"/>
              </a:rPr>
              <a:t>Stage 1 compares baseline and perturbed proxy values for entropy and switching rate with units shown on the axis labels. - Stage 1 compares baseline and perturbed proxy values for entropy and switching rate with units shown on the axis labels.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Stage 2 Empirical Bridge and Fit</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8/15</a:t>
            </a:r>
            <a:endParaRPr lang="en-US" sz="1100" dirty="0"/>
          </a:p>
        </p:txBody>
      </p:sp>
      <p:sp>
        <p:nvSpPr>
          <p:cNvPr id="6" name="Shape 4"/>
          <p:cNvSpPr/>
          <p:nvPr/>
        </p:nvSpPr>
        <p:spPr>
          <a:xfrm>
            <a:off x="438912" y="1097280"/>
            <a:ext cx="5486400" cy="964692"/>
          </a:xfrm>
          <a:prstGeom prst="roundRect">
            <a:avLst>
              <a:gd name="adj" fmla="val 11374"/>
            </a:avLst>
          </a:prstGeom>
          <a:solidFill>
            <a:srgbClr val="F2EBDD"/>
          </a:solidFill>
          <a:ln w="12700">
            <a:solidFill>
              <a:srgbClr val="B7AC97"/>
            </a:solidFill>
            <a:prstDash val="solid"/>
          </a:ln>
        </p:spPr>
      </p:sp>
      <p:sp>
        <p:nvSpPr>
          <p:cNvPr id="7" name="Text 5"/>
          <p:cNvSpPr/>
          <p:nvPr/>
        </p:nvSpPr>
        <p:spPr>
          <a:xfrm>
            <a:off x="566928" y="1170432"/>
            <a:ext cx="5230368" cy="854964"/>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The current empirical bridge uses fifteen paired subjects and sixty total resting runs. The Stage 2 fit statement is: Stage 2 objective changed from 1628.945 to 2.054 (decreased); lower scores are better. The selected score comes from the optimization step.</a:t>
            </a:r>
            <a:endParaRPr lang="en-US" sz="1300" dirty="0"/>
          </a:p>
        </p:txBody>
      </p:sp>
      <p:sp>
        <p:nvSpPr>
          <p:cNvPr id="8" name="Text 6"/>
          <p:cNvSpPr/>
          <p:nvPr/>
        </p:nvSpPr>
        <p:spPr>
          <a:xfrm>
            <a:off x="457200" y="2226564"/>
            <a:ext cx="5486400" cy="880872"/>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current empirical bridge uses fifteen paired subjects and sixty total resting runs. The Stage 2 fit statement is: Stage 2 objective changed from 1628.945 to 2.054 (decreased); lower scores are better. The selected score comes from the optimization step.</a:t>
            </a:r>
            <a:endParaRPr lang="en-US" sz="1200" dirty="0"/>
          </a:p>
        </p:txBody>
      </p:sp>
      <p:sp>
        <p:nvSpPr>
          <p:cNvPr id="9" name="Text 7"/>
          <p:cNvSpPr/>
          <p:nvPr/>
        </p:nvSpPr>
        <p:spPr>
          <a:xfrm>
            <a:off x="457200" y="3162300"/>
            <a:ext cx="5486400"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code queries the OpenNeuro GraphQL API to reconstruct the dataset file tree.</a:t>
            </a:r>
            <a:endParaRPr lang="en-US" sz="1200" dirty="0"/>
          </a:p>
        </p:txBody>
      </p:sp>
      <p:sp>
        <p:nvSpPr>
          <p:cNvPr id="10" name="Text 8"/>
          <p:cNvSpPr/>
          <p:nvPr/>
        </p:nvSpPr>
        <p:spPr>
          <a:xfrm>
            <a:off x="457200" y="3613404"/>
            <a:ext cx="5486400"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It filters that file tree to the exact sessions and runs required for the study design.</a:t>
            </a:r>
            <a:endParaRPr lang="en-US" sz="1200" dirty="0"/>
          </a:p>
        </p:txBody>
      </p:sp>
      <p:sp>
        <p:nvSpPr>
          <p:cNvPr id="11" name="Text 9"/>
          <p:cNvSpPr/>
          <p:nvPr/>
        </p:nvSpPr>
        <p:spPr>
          <a:xfrm>
            <a:off x="457200" y="4064508"/>
            <a:ext cx="5486400"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It downloads only the BOLD files required for the selected rest runs.</a:t>
            </a:r>
            <a:endParaRPr lang="en-US" sz="1200" dirty="0"/>
          </a:p>
        </p:txBody>
      </p:sp>
      <p:sp>
        <p:nvSpPr>
          <p:cNvPr id="12" name="Text 10"/>
          <p:cNvSpPr/>
          <p:nvPr/>
        </p:nvSpPr>
        <p:spPr>
          <a:xfrm>
            <a:off x="457200" y="4515612"/>
            <a:ext cx="5486400"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It extracts module time series for each run.</a:t>
            </a:r>
            <a:endParaRPr lang="en-US" sz="1200" dirty="0"/>
          </a:p>
        </p:txBody>
      </p:sp>
      <p:sp>
        <p:nvSpPr>
          <p:cNvPr id="13" name="Text 11"/>
          <p:cNvSpPr/>
          <p:nvPr/>
        </p:nvSpPr>
        <p:spPr>
          <a:xfrm>
            <a:off x="438912" y="4954524"/>
            <a:ext cx="5486400" cy="700532"/>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  This figure summarizes a cached benchmark anchored to OpenNeuro ds003059 placebo resting-state summary (15 session averages). It is evidence of fit quality and run-to-run consistency, not a proof of generalization.</a:t>
            </a:r>
            <a:endParaRPr lang="en-US" sz="950" dirty="0"/>
          </a:p>
        </p:txBody>
      </p:sp>
      <p:sp>
        <p:nvSpPr>
          <p:cNvPr id="14" name="Shape 12"/>
          <p:cNvSpPr/>
          <p:nvPr/>
        </p:nvSpPr>
        <p:spPr>
          <a:xfrm>
            <a:off x="6181344" y="1097280"/>
            <a:ext cx="5571439" cy="5285232"/>
          </a:xfrm>
          <a:prstGeom prst="roundRect">
            <a:avLst>
              <a:gd name="adj" fmla="val 2076"/>
            </a:avLst>
          </a:prstGeom>
          <a:solidFill>
            <a:srgbClr val="FFFDF8"/>
          </a:solidFill>
          <a:ln w="12700">
            <a:solidFill>
              <a:srgbClr val="D6CCBC"/>
            </a:solidFill>
            <a:prstDash val="solid"/>
          </a:ln>
        </p:spPr>
      </p:sp>
      <p:pic>
        <p:nvPicPr>
          <p:cNvPr id="15" name="Image 0" descr="D:\LSD_Thesis\output\doc\figures\stage2_fit_robustness.png">    </p:cNvPr>
          <p:cNvPicPr>
            <a:picLocks noChangeAspect="1"/>
          </p:cNvPicPr>
          <p:nvPr/>
        </p:nvPicPr>
        <p:blipFill>
          <a:blip r:embed="rId1"/>
          <a:stretch>
            <a:fillRect/>
          </a:stretch>
        </p:blipFill>
        <p:spPr>
          <a:xfrm>
            <a:off x="6291072" y="1976690"/>
            <a:ext cx="5351983" cy="3233804"/>
          </a:xfrm>
          <a:prstGeom prst="rect">
            <a:avLst/>
          </a:prstGeom>
        </p:spPr>
      </p:pic>
      <p:sp>
        <p:nvSpPr>
          <p:cNvPr id="16" name="Text 13"/>
          <p:cNvSpPr/>
          <p:nvPr/>
        </p:nvSpPr>
        <p:spPr>
          <a:xfrm>
            <a:off x="6291072" y="6053328"/>
            <a:ext cx="5351983" cy="237744"/>
          </a:xfrm>
          <a:prstGeom prst="rect">
            <a:avLst/>
          </a:prstGeom>
          <a:noFill/>
          <a:ln/>
        </p:spPr>
        <p:txBody>
          <a:bodyPr wrap="square" lIns="0" tIns="0" rIns="0" bIns="0" rtlCol="0" anchor="ctr"/>
          <a:lstStyle/>
          <a:p>
            <a:pPr algn="l" indent="0" marL="0">
              <a:buNone/>
            </a:pPr>
            <a:r>
              <a:rPr lang="en-US" sz="950" i="1" dirty="0">
                <a:solidFill>
                  <a:srgbClr val="5B6978"/>
                </a:solidFill>
                <a:latin typeface="Aptos" pitchFamily="34" charset="0"/>
                <a:ea typeface="Aptos" pitchFamily="34" charset="-122"/>
                <a:cs typeface="Aptos" pitchFamily="34" charset="-120"/>
              </a:rPr>
              <a:t>Stage 2 compares the initial objective with the selected score from the optimization step and summarizes limited repeatability evidence. - Stage 2 compares the initial objective with the selected score from the optimization step and summarizes limited repeatability evidence.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CV5 Internal Validation</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9/15</a:t>
            </a:r>
            <a:endParaRPr lang="en-US" sz="1100" dirty="0"/>
          </a:p>
        </p:txBody>
      </p:sp>
      <p:sp>
        <p:nvSpPr>
          <p:cNvPr id="6" name="Shape 4"/>
          <p:cNvSpPr/>
          <p:nvPr/>
        </p:nvSpPr>
        <p:spPr>
          <a:xfrm>
            <a:off x="438912" y="1097280"/>
            <a:ext cx="11313871" cy="475488"/>
          </a:xfrm>
          <a:prstGeom prst="roundRect">
            <a:avLst>
              <a:gd name="adj" fmla="val 23077"/>
            </a:avLst>
          </a:prstGeom>
          <a:solidFill>
            <a:srgbClr val="F2EBDD"/>
          </a:solidFill>
          <a:ln w="12700">
            <a:solidFill>
              <a:srgbClr val="B7AC97"/>
            </a:solidFill>
            <a:prstDash val="solid"/>
          </a:ln>
        </p:spPr>
      </p:sp>
      <p:sp>
        <p:nvSpPr>
          <p:cNvPr id="7" name="Text 5"/>
          <p:cNvSpPr/>
          <p:nvPr/>
        </p:nvSpPr>
        <p:spPr>
          <a:xfrm>
            <a:off x="566928" y="1170432"/>
            <a:ext cx="11057839" cy="365760"/>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Approved preliminary five-fold subject-disjoint internal validation is complete; this is not external or clinical validation.</a:t>
            </a:r>
            <a:endParaRPr lang="en-US" sz="1300" dirty="0"/>
          </a:p>
        </p:txBody>
      </p:sp>
      <p:sp>
        <p:nvSpPr>
          <p:cNvPr id="8" name="Text 6"/>
          <p:cNvSpPr/>
          <p:nvPr/>
        </p:nvSpPr>
        <p:spPr>
          <a:xfrm>
            <a:off x="457200" y="1737360"/>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Five folds cover the 15 complete paired subjects, with 3 held out per fold.</a:t>
            </a:r>
            <a:endParaRPr lang="en-US" sz="1200" dirty="0"/>
          </a:p>
        </p:txBody>
      </p:sp>
      <p:sp>
        <p:nvSpPr>
          <p:cNvPr id="9" name="Text 7"/>
          <p:cNvSpPr/>
          <p:nvPr/>
        </p:nvSpPr>
        <p:spPr>
          <a:xfrm>
            <a:off x="457200" y="2029968"/>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Fold metrics are descriptive internal-validation summaries, not confidence intervals.</a:t>
            </a:r>
            <a:endParaRPr lang="en-US" sz="1200" dirty="0"/>
          </a:p>
        </p:txBody>
      </p:sp>
      <p:sp>
        <p:nvSpPr>
          <p:cNvPr id="10" name="Text 8"/>
          <p:cNvSpPr/>
          <p:nvPr/>
        </p:nvSpPr>
        <p:spPr>
          <a:xfrm>
            <a:off x="457200" y="2322576"/>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No subject-level motion, FD/DVARS, confound, or censoring stratification was available.</a:t>
            </a:r>
            <a:endParaRPr lang="en-US" sz="1200" dirty="0"/>
          </a:p>
        </p:txBody>
      </p:sp>
      <p:sp>
        <p:nvSpPr>
          <p:cNvPr id="11" name="Text 9"/>
          <p:cNvSpPr/>
          <p:nvPr/>
        </p:nvSpPr>
        <p:spPr>
          <a:xfrm>
            <a:off x="457200" y="2615184"/>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selected perturbation family is a proxy-objective result, not proof of a biological mechanism.</a:t>
            </a:r>
            <a:endParaRPr lang="en-US" sz="1200" dirty="0"/>
          </a:p>
        </p:txBody>
      </p:sp>
      <p:sp>
        <p:nvSpPr>
          <p:cNvPr id="12" name="Text 10"/>
          <p:cNvSpPr/>
          <p:nvPr/>
        </p:nvSpPr>
        <p:spPr>
          <a:xfrm>
            <a:off x="438912" y="3090672"/>
            <a:ext cx="11313871" cy="324104"/>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Defense scope slide derived from the CV5 validation section.  Internal validation only; not external or clinical validation, and not subjective-state evidence.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Stage 3 Perturbation-Family Ranking</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10/15</a:t>
            </a:r>
            <a:endParaRPr lang="en-US" sz="1100" dirty="0"/>
          </a:p>
        </p:txBody>
      </p:sp>
      <p:sp>
        <p:nvSpPr>
          <p:cNvPr id="6" name="Shape 4"/>
          <p:cNvSpPr/>
          <p:nvPr/>
        </p:nvSpPr>
        <p:spPr>
          <a:xfrm>
            <a:off x="438912" y="1097280"/>
            <a:ext cx="11313871" cy="608076"/>
          </a:xfrm>
          <a:prstGeom prst="roundRect">
            <a:avLst>
              <a:gd name="adj" fmla="val 18045"/>
            </a:avLst>
          </a:prstGeom>
          <a:solidFill>
            <a:srgbClr val="F2EBDD"/>
          </a:solidFill>
          <a:ln w="12700">
            <a:solidFill>
              <a:srgbClr val="B7AC97"/>
            </a:solidFill>
            <a:prstDash val="solid"/>
          </a:ln>
        </p:spPr>
      </p:sp>
      <p:sp>
        <p:nvSpPr>
          <p:cNvPr id="7" name="Text 5"/>
          <p:cNvSpPr/>
          <p:nvPr/>
        </p:nvSpPr>
        <p:spPr>
          <a:xfrm>
            <a:off x="566928" y="1170432"/>
            <a:ext cx="11057839" cy="498348"/>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In the current evidence, the best-scoring perturbation family is less_hierarchical_constraint at strength 0.25. That result is directionally interesting in proxy-objective space, but it remains a weak macro-level hypothesis rather than a convincing mechanistic explanation.</a:t>
            </a:r>
            <a:endParaRPr lang="en-US" sz="1300" dirty="0"/>
          </a:p>
        </p:txBody>
      </p:sp>
      <p:sp>
        <p:nvSpPr>
          <p:cNvPr id="8" name="Text 6"/>
          <p:cNvSpPr/>
          <p:nvPr/>
        </p:nvSpPr>
        <p:spPr>
          <a:xfrm>
            <a:off x="457200" y="1869948"/>
            <a:ext cx="11313871" cy="55778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In the current evidence, the best-scoring perturbation family is less_hierarchical_constraint at strength 0.25. That result is directionally interesting in proxy-objective space, but it remains a weak macro-level hypothesis rather than a convincing mechanistic explanation.</a:t>
            </a:r>
            <a:endParaRPr lang="en-US" sz="1200" dirty="0"/>
          </a:p>
        </p:txBody>
      </p:sp>
      <p:sp>
        <p:nvSpPr>
          <p:cNvPr id="9" name="Text 7"/>
          <p:cNvSpPr/>
          <p:nvPr/>
        </p:nvSpPr>
        <p:spPr>
          <a:xfrm>
            <a:off x="457200" y="2482596"/>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more cross-talk</a:t>
            </a:r>
            <a:endParaRPr lang="en-US" sz="1200" dirty="0"/>
          </a:p>
        </p:txBody>
      </p:sp>
      <p:sp>
        <p:nvSpPr>
          <p:cNvPr id="10" name="Text 8"/>
          <p:cNvSpPr/>
          <p:nvPr/>
        </p:nvSpPr>
        <p:spPr>
          <a:xfrm>
            <a:off x="457200" y="2775204"/>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less hierarchical constraint</a:t>
            </a:r>
            <a:endParaRPr lang="en-US" sz="1200" dirty="0"/>
          </a:p>
        </p:txBody>
      </p:sp>
      <p:sp>
        <p:nvSpPr>
          <p:cNvPr id="11" name="Text 9"/>
          <p:cNvSpPr/>
          <p:nvPr/>
        </p:nvSpPr>
        <p:spPr>
          <a:xfrm>
            <a:off x="457200" y="3067812"/>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more stochasticity</a:t>
            </a:r>
            <a:endParaRPr lang="en-US" sz="1200" dirty="0"/>
          </a:p>
        </p:txBody>
      </p:sp>
      <p:sp>
        <p:nvSpPr>
          <p:cNvPr id="12" name="Text 10"/>
          <p:cNvSpPr/>
          <p:nvPr/>
        </p:nvSpPr>
        <p:spPr>
          <a:xfrm>
            <a:off x="457200" y="3360420"/>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lower switching barrier</a:t>
            </a:r>
            <a:endParaRPr lang="en-US" sz="1200" dirty="0"/>
          </a:p>
        </p:txBody>
      </p:sp>
      <p:sp>
        <p:nvSpPr>
          <p:cNvPr id="13" name="Text 11"/>
          <p:cNvSpPr/>
          <p:nvPr/>
        </p:nvSpPr>
        <p:spPr>
          <a:xfrm>
            <a:off x="438912" y="3835908"/>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Stage 4 Ablation and Pairwise Tests</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11/15</a:t>
            </a:r>
            <a:endParaRPr lang="en-US" sz="1100" dirty="0"/>
          </a:p>
        </p:txBody>
      </p:sp>
      <p:sp>
        <p:nvSpPr>
          <p:cNvPr id="6" name="Shape 4"/>
          <p:cNvSpPr/>
          <p:nvPr/>
        </p:nvSpPr>
        <p:spPr>
          <a:xfrm>
            <a:off x="438912" y="1097280"/>
            <a:ext cx="11313871" cy="964692"/>
          </a:xfrm>
          <a:prstGeom prst="roundRect">
            <a:avLst>
              <a:gd name="adj" fmla="val 11374"/>
            </a:avLst>
          </a:prstGeom>
          <a:solidFill>
            <a:srgbClr val="F2EBDD"/>
          </a:solidFill>
          <a:ln w="12700">
            <a:solidFill>
              <a:srgbClr val="B7AC97"/>
            </a:solidFill>
            <a:prstDash val="solid"/>
          </a:ln>
        </p:spPr>
      </p:sp>
      <p:sp>
        <p:nvSpPr>
          <p:cNvPr id="7" name="Text 5"/>
          <p:cNvSpPr/>
          <p:nvPr/>
        </p:nvSpPr>
        <p:spPr>
          <a:xfrm>
            <a:off x="566928" y="1170432"/>
            <a:ext cx="11057839" cy="854964"/>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The best current pairwise combination is less_hierarchical_constraint+lower_switching_barrier. The best single mechanism is lower_switching_barrier (score 5028.2029). The best pair is less_hierarchical_constraint+lower_switching_barrier (score 4819.2698), which outperformed the best single mechanism under the current objective; lower scores are better. This comparison is informative because it shows whether simple perturbation superposition helps under the current objective without turning that objective into a mechanistic claim.</a:t>
            </a:r>
            <a:endParaRPr lang="en-US" sz="1300" dirty="0"/>
          </a:p>
        </p:txBody>
      </p:sp>
      <p:sp>
        <p:nvSpPr>
          <p:cNvPr id="8" name="Text 6"/>
          <p:cNvSpPr/>
          <p:nvPr/>
        </p:nvSpPr>
        <p:spPr>
          <a:xfrm>
            <a:off x="457200" y="2226564"/>
            <a:ext cx="11313871" cy="880872"/>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best current pairwise combination is less_hierarchical_constraint+lower_switching_barrier. The best single mechanism is lower_switching_barrier (score 5028.2029). The best pair is less_hierarchical_constraint+lower_switching_barrier (score 4819.2698), which outperformed the best single mechanism under the current objective; lower scores are better. This comparison is informative because it shows whether simple perturbation superposition helps under the current objective without turning that objective into a mechanistic claim.</a:t>
            </a:r>
            <a:endParaRPr lang="en-US" sz="1200" dirty="0"/>
          </a:p>
        </p:txBody>
      </p:sp>
      <p:sp>
        <p:nvSpPr>
          <p:cNvPr id="9" name="Text 7"/>
          <p:cNvSpPr/>
          <p:nvPr/>
        </p:nvSpPr>
        <p:spPr>
          <a:xfrm>
            <a:off x="457200" y="3162300"/>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best single mechanism: lower_switching_barrier</a:t>
            </a:r>
            <a:endParaRPr lang="en-US" sz="1200" dirty="0"/>
          </a:p>
        </p:txBody>
      </p:sp>
      <p:sp>
        <p:nvSpPr>
          <p:cNvPr id="10" name="Text 8"/>
          <p:cNvSpPr/>
          <p:nvPr/>
        </p:nvSpPr>
        <p:spPr>
          <a:xfrm>
            <a:off x="457200" y="3454908"/>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best single score: 5028.2029</a:t>
            </a:r>
            <a:endParaRPr lang="en-US" sz="1200" dirty="0"/>
          </a:p>
        </p:txBody>
      </p:sp>
      <p:sp>
        <p:nvSpPr>
          <p:cNvPr id="11" name="Text 9"/>
          <p:cNvSpPr/>
          <p:nvPr/>
        </p:nvSpPr>
        <p:spPr>
          <a:xfrm>
            <a:off x="457200" y="3747516"/>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best pairwise mechanism: less_hierarchical_constraint+lower_switching_barrier</a:t>
            </a:r>
            <a:endParaRPr lang="en-US" sz="1200" dirty="0"/>
          </a:p>
        </p:txBody>
      </p:sp>
      <p:sp>
        <p:nvSpPr>
          <p:cNvPr id="12" name="Text 10"/>
          <p:cNvSpPr/>
          <p:nvPr/>
        </p:nvSpPr>
        <p:spPr>
          <a:xfrm>
            <a:off x="457200" y="4040124"/>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best pairwise score: 4819.2698</a:t>
            </a:r>
            <a:endParaRPr lang="en-US" sz="1200" dirty="0"/>
          </a:p>
        </p:txBody>
      </p:sp>
      <p:sp>
        <p:nvSpPr>
          <p:cNvPr id="13" name="Text 11"/>
          <p:cNvSpPr/>
          <p:nvPr/>
        </p:nvSpPr>
        <p:spPr>
          <a:xfrm>
            <a:off x="438912" y="4515612"/>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Dashboard and Artifact Layer</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12/15</a:t>
            </a:r>
            <a:endParaRPr lang="en-US" sz="1100" dirty="0"/>
          </a:p>
        </p:txBody>
      </p:sp>
      <p:sp>
        <p:nvSpPr>
          <p:cNvPr id="6" name="Shape 4"/>
          <p:cNvSpPr/>
          <p:nvPr/>
        </p:nvSpPr>
        <p:spPr>
          <a:xfrm>
            <a:off x="438912" y="1097280"/>
            <a:ext cx="11313871" cy="608076"/>
          </a:xfrm>
          <a:prstGeom prst="roundRect">
            <a:avLst>
              <a:gd name="adj" fmla="val 18045"/>
            </a:avLst>
          </a:prstGeom>
          <a:solidFill>
            <a:srgbClr val="F2EBDD"/>
          </a:solidFill>
          <a:ln w="12700">
            <a:solidFill>
              <a:srgbClr val="B7AC97"/>
            </a:solidFill>
            <a:prstDash val="solid"/>
          </a:ln>
        </p:spPr>
      </p:sp>
      <p:sp>
        <p:nvSpPr>
          <p:cNvPr id="7" name="Text 5"/>
          <p:cNvSpPr/>
          <p:nvPr/>
        </p:nvSpPr>
        <p:spPr>
          <a:xfrm>
            <a:off x="566928" y="1170432"/>
            <a:ext cx="11057839" cy="498348"/>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The repository does more than compute numbers. It exposes the pipeline through a dashboard and a dense artifact layer. This is not trivial polish. It is part of the scientific contribution because it makes the model inspectable by people who are not comfortable reading Python source.</a:t>
            </a:r>
            <a:endParaRPr lang="en-US" sz="1300" dirty="0"/>
          </a:p>
        </p:txBody>
      </p:sp>
      <p:sp>
        <p:nvSpPr>
          <p:cNvPr id="8" name="Text 6"/>
          <p:cNvSpPr/>
          <p:nvPr/>
        </p:nvSpPr>
        <p:spPr>
          <a:xfrm>
            <a:off x="457200" y="1869948"/>
            <a:ext cx="11313871" cy="55778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repository does more than compute numbers. It exposes the pipeline through a dashboard and a dense artifact layer. This is not trivial polish. It is part of the scientific contribution because it makes the model inspectable by people who are not comfortable reading Python source.</a:t>
            </a:r>
            <a:endParaRPr lang="en-US" sz="1200" dirty="0"/>
          </a:p>
        </p:txBody>
      </p:sp>
      <p:sp>
        <p:nvSpPr>
          <p:cNvPr id="9" name="Text 7"/>
          <p:cNvSpPr/>
          <p:nvPr/>
        </p:nvSpPr>
        <p:spPr>
          <a:xfrm>
            <a:off x="457200" y="2482596"/>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A model explorer for synthetic simulations, adjustable parameters, and FC or ablation outputs.</a:t>
            </a:r>
            <a:endParaRPr lang="en-US" sz="1200" dirty="0"/>
          </a:p>
        </p:txBody>
      </p:sp>
      <p:sp>
        <p:nvSpPr>
          <p:cNvPr id="10" name="Text 8"/>
          <p:cNvSpPr/>
          <p:nvPr/>
        </p:nvSpPr>
        <p:spPr>
          <a:xfrm>
            <a:off x="457200" y="2775204"/>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An empirical explorer for group-level placebo versus LSD summaries, paired subject/run inspection, windowed FC changes, module traces, and downsampled window-averaged preview slices.</a:t>
            </a:r>
            <a:endParaRPr lang="en-US" sz="1200" dirty="0"/>
          </a:p>
        </p:txBody>
      </p:sp>
      <p:sp>
        <p:nvSpPr>
          <p:cNvPr id="11" name="Text 9"/>
          <p:cNvSpPr/>
          <p:nvPr/>
        </p:nvSpPr>
        <p:spPr>
          <a:xfrm>
            <a:off x="457200" y="3226308"/>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subject selection</a:t>
            </a:r>
            <a:endParaRPr lang="en-US" sz="1200" dirty="0"/>
          </a:p>
        </p:txBody>
      </p:sp>
      <p:sp>
        <p:nvSpPr>
          <p:cNvPr id="12" name="Text 10"/>
          <p:cNvSpPr/>
          <p:nvPr/>
        </p:nvSpPr>
        <p:spPr>
          <a:xfrm>
            <a:off x="457200" y="3518916"/>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run selection</a:t>
            </a:r>
            <a:endParaRPr lang="en-US" sz="1200" dirty="0"/>
          </a:p>
        </p:txBody>
      </p:sp>
      <p:sp>
        <p:nvSpPr>
          <p:cNvPr id="13" name="Text 11"/>
          <p:cNvSpPr/>
          <p:nvPr/>
        </p:nvSpPr>
        <p:spPr>
          <a:xfrm>
            <a:off x="438912" y="3994404"/>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Training Benchmarks</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13/15</a:t>
            </a:r>
            <a:endParaRPr lang="en-US" sz="1100" dirty="0"/>
          </a:p>
        </p:txBody>
      </p:sp>
      <p:sp>
        <p:nvSpPr>
          <p:cNvPr id="6" name="Shape 4"/>
          <p:cNvSpPr/>
          <p:nvPr/>
        </p:nvSpPr>
        <p:spPr>
          <a:xfrm>
            <a:off x="438912" y="1097280"/>
            <a:ext cx="11313871" cy="608076"/>
          </a:xfrm>
          <a:prstGeom prst="roundRect">
            <a:avLst>
              <a:gd name="adj" fmla="val 18045"/>
            </a:avLst>
          </a:prstGeom>
          <a:solidFill>
            <a:srgbClr val="F2EBDD"/>
          </a:solidFill>
          <a:ln w="12700">
            <a:solidFill>
              <a:srgbClr val="B7AC97"/>
            </a:solidFill>
            <a:prstDash val="solid"/>
          </a:ln>
        </p:spPr>
      </p:sp>
      <p:sp>
        <p:nvSpPr>
          <p:cNvPr id="7" name="Text 5"/>
          <p:cNvSpPr/>
          <p:nvPr/>
        </p:nvSpPr>
        <p:spPr>
          <a:xfrm>
            <a:off x="566928" y="1170432"/>
            <a:ext cx="11057839" cy="498348"/>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The repository includes a secondary line of work that exports Stage 2 empirical windows into a training-ready dataset and benchmarks a few simple machine learning models. This branch does not replace the surrogate-model thesis. Instead, it asks whether the extracted windows contain enough structure to support auxiliary prediction tasks.</a:t>
            </a:r>
            <a:endParaRPr lang="en-US" sz="1300" dirty="0"/>
          </a:p>
        </p:txBody>
      </p:sp>
      <p:sp>
        <p:nvSpPr>
          <p:cNvPr id="8" name="Text 6"/>
          <p:cNvSpPr/>
          <p:nvPr/>
        </p:nvSpPr>
        <p:spPr>
          <a:xfrm>
            <a:off x="457200" y="1869948"/>
            <a:ext cx="11313871" cy="55778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repository includes a secondary line of work that exports Stage 2 empirical windows into a training-ready dataset and benchmarks a few simple machine learning models. This branch does not replace the surrogate-model thesis. Instead, it asks whether the extracted windows contain enough structure to support auxiliary prediction tasks.</a:t>
            </a:r>
            <a:endParaRPr lang="en-US" sz="1200" dirty="0"/>
          </a:p>
        </p:txBody>
      </p:sp>
      <p:sp>
        <p:nvSpPr>
          <p:cNvPr id="9" name="Text 7"/>
          <p:cNvSpPr/>
          <p:nvPr/>
        </p:nvSpPr>
        <p:spPr>
          <a:xfrm>
            <a:off x="438912" y="2665476"/>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What Worked, What Failed, and Validity Risks</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14/15</a:t>
            </a:r>
            <a:endParaRPr lang="en-US" sz="1100" dirty="0"/>
          </a:p>
        </p:txBody>
      </p:sp>
      <p:sp>
        <p:nvSpPr>
          <p:cNvPr id="6" name="Shape 4"/>
          <p:cNvSpPr/>
          <p:nvPr/>
        </p:nvSpPr>
        <p:spPr>
          <a:xfrm>
            <a:off x="438912" y="1097280"/>
            <a:ext cx="11313871" cy="475488"/>
          </a:xfrm>
          <a:prstGeom prst="roundRect">
            <a:avLst>
              <a:gd name="adj" fmla="val 23077"/>
            </a:avLst>
          </a:prstGeom>
          <a:solidFill>
            <a:srgbClr val="F2EBDD"/>
          </a:solidFill>
          <a:ln w="12700">
            <a:solidFill>
              <a:srgbClr val="B7AC97"/>
            </a:solidFill>
            <a:prstDash val="solid"/>
          </a:ln>
        </p:spPr>
      </p:sp>
      <p:sp>
        <p:nvSpPr>
          <p:cNvPr id="7" name="Text 5"/>
          <p:cNvSpPr/>
          <p:nvPr/>
        </p:nvSpPr>
        <p:spPr>
          <a:xfrm>
            <a:off x="566928" y="1170432"/>
            <a:ext cx="11057839" cy="365760"/>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Several aspects of the repository are genuinely strong and should be defended confidently.</a:t>
            </a:r>
            <a:endParaRPr lang="en-US" sz="1300" dirty="0"/>
          </a:p>
        </p:txBody>
      </p:sp>
      <p:sp>
        <p:nvSpPr>
          <p:cNvPr id="8" name="Text 6"/>
          <p:cNvSpPr/>
          <p:nvPr/>
        </p:nvSpPr>
        <p:spPr>
          <a:xfrm>
            <a:off x="457200" y="1737360"/>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Several aspects of the repository are genuinely strong and should be defended confidently.</a:t>
            </a:r>
            <a:endParaRPr lang="en-US" sz="1200" dirty="0"/>
          </a:p>
        </p:txBody>
      </p:sp>
      <p:sp>
        <p:nvSpPr>
          <p:cNvPr id="9" name="Text 7"/>
          <p:cNvSpPr/>
          <p:nvPr/>
        </p:nvSpPr>
        <p:spPr>
          <a:xfrm>
            <a:off x="457200" y="2029968"/>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repository is strongest when it admits its current failures. Several weaknesses should be framed openly rather than defensively.</a:t>
            </a:r>
            <a:endParaRPr lang="en-US" sz="1200" dirty="0"/>
          </a:p>
        </p:txBody>
      </p:sp>
      <p:sp>
        <p:nvSpPr>
          <p:cNvPr id="10" name="Text 8"/>
          <p:cNvSpPr/>
          <p:nvPr/>
        </p:nvSpPr>
        <p:spPr>
          <a:xfrm>
            <a:off x="457200" y="2481072"/>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central threats to validity fall into four categories: construct validity, internal validity, external validity, and reproducibility validity.</a:t>
            </a:r>
            <a:endParaRPr lang="en-US" sz="1200" dirty="0"/>
          </a:p>
        </p:txBody>
      </p:sp>
      <p:sp>
        <p:nvSpPr>
          <p:cNvPr id="11" name="Text 9"/>
          <p:cNvSpPr/>
          <p:nvPr/>
        </p:nvSpPr>
        <p:spPr>
          <a:xfrm>
            <a:off x="438912" y="3115056"/>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w="12700">
            <a:solidFill>
              <a:srgbClr val="F6F1E8">
                <a:alpha val="0"/>
              </a:srgbClr>
            </a:solidFill>
            <a:prstDash val="solid"/>
          </a:ln>
        </p:spPr>
      </p:sp>
      <p:sp>
        <p:nvSpPr>
          <p:cNvPr id="3" name="Shape 1"/>
          <p:cNvSpPr/>
          <p:nvPr/>
        </p:nvSpPr>
        <p:spPr>
          <a:xfrm>
            <a:off x="0" y="0"/>
            <a:ext cx="12191695" cy="146304"/>
          </a:xfrm>
          <a:prstGeom prst="rect">
            <a:avLst/>
          </a:prstGeom>
          <a:solidFill>
            <a:srgbClr val="C59F5A"/>
          </a:solidFill>
          <a:ln w="12700">
            <a:solidFill>
              <a:srgbClr val="C59F5A">
                <a:alpha val="0"/>
              </a:srgbClr>
            </a:solidFill>
            <a:prstDash val="solid"/>
          </a:ln>
        </p:spPr>
      </p:sp>
      <p:sp>
        <p:nvSpPr>
          <p:cNvPr id="4" name="Text 2"/>
          <p:cNvSpPr/>
          <p:nvPr/>
        </p:nvSpPr>
        <p:spPr>
          <a:xfrm>
            <a:off x="438912" y="310896"/>
            <a:ext cx="10399471" cy="566928"/>
          </a:xfrm>
          <a:prstGeom prst="rect">
            <a:avLst/>
          </a:prstGeom>
          <a:noFill/>
          <a:ln/>
        </p:spPr>
        <p:txBody>
          <a:bodyPr wrap="square" lIns="0" tIns="0" rIns="0" bIns="0" rtlCol="0" anchor="ctr"/>
          <a:lstStyle/>
          <a:p>
            <a:pPr indent="0" marL="0">
              <a:buNone/>
            </a:pPr>
            <a:r>
              <a:rPr lang="en-US" sz="2400" b="1" dirty="0">
                <a:solidFill>
                  <a:srgbClr val="173857"/>
                </a:solidFill>
                <a:latin typeface="Aptos Display" pitchFamily="34" charset="0"/>
                <a:ea typeface="Aptos Display" pitchFamily="34" charset="-122"/>
                <a:cs typeface="Aptos Display" pitchFamily="34" charset="-120"/>
              </a:rPr>
              <a:t>Defendable Conclusion</a:t>
            </a:r>
            <a:endParaRPr lang="en-US" sz="2400" dirty="0"/>
          </a:p>
        </p:txBody>
      </p:sp>
      <p:sp>
        <p:nvSpPr>
          <p:cNvPr id="5" name="Text 3"/>
          <p:cNvSpPr/>
          <p:nvPr/>
        </p:nvSpPr>
        <p:spPr>
          <a:xfrm>
            <a:off x="11021263" y="347472"/>
            <a:ext cx="731520" cy="310896"/>
          </a:xfrm>
          <a:prstGeom prst="rect">
            <a:avLst/>
          </a:prstGeom>
          <a:noFill/>
          <a:ln/>
        </p:spPr>
        <p:txBody>
          <a:bodyPr wrap="square" lIns="0" tIns="0" rIns="0" bIns="0" rtlCol="0" anchor="ctr"/>
          <a:lstStyle/>
          <a:p>
            <a:pPr algn="r" indent="0" marL="0">
              <a:buNone/>
            </a:pPr>
            <a:r>
              <a:rPr lang="en-US" sz="1100" dirty="0">
                <a:solidFill>
                  <a:srgbClr val="5B6978"/>
                </a:solidFill>
                <a:latin typeface="Aptos" pitchFamily="34" charset="0"/>
                <a:ea typeface="Aptos" pitchFamily="34" charset="-122"/>
                <a:cs typeface="Aptos" pitchFamily="34" charset="-120"/>
              </a:rPr>
              <a:t>15/15</a:t>
            </a:r>
            <a:endParaRPr lang="en-US" sz="1100" dirty="0"/>
          </a:p>
        </p:txBody>
      </p:sp>
      <p:sp>
        <p:nvSpPr>
          <p:cNvPr id="6" name="Shape 4"/>
          <p:cNvSpPr/>
          <p:nvPr/>
        </p:nvSpPr>
        <p:spPr>
          <a:xfrm>
            <a:off x="438912" y="1097280"/>
            <a:ext cx="11313871" cy="475488"/>
          </a:xfrm>
          <a:prstGeom prst="roundRect">
            <a:avLst>
              <a:gd name="adj" fmla="val 23077"/>
            </a:avLst>
          </a:prstGeom>
          <a:solidFill>
            <a:srgbClr val="F2EBDD"/>
          </a:solidFill>
          <a:ln w="12700">
            <a:solidFill>
              <a:srgbClr val="B7AC97"/>
            </a:solidFill>
            <a:prstDash val="solid"/>
          </a:ln>
        </p:spPr>
      </p:sp>
      <p:sp>
        <p:nvSpPr>
          <p:cNvPr id="7" name="Text 5"/>
          <p:cNvSpPr/>
          <p:nvPr/>
        </p:nvSpPr>
        <p:spPr>
          <a:xfrm>
            <a:off x="566928" y="1170432"/>
            <a:ext cx="11057839" cy="365760"/>
          </a:xfrm>
          <a:prstGeom prst="rect">
            <a:avLst/>
          </a:prstGeom>
          <a:noFill/>
          <a:ln/>
        </p:spPr>
        <p:txBody>
          <a:bodyPr wrap="square" lIns="0" tIns="0" rIns="0" bIns="0" rtlCol="0" anchor="ctr"/>
          <a:lstStyle/>
          <a:p>
            <a:pPr indent="0" marL="0">
              <a:buNone/>
            </a:pPr>
            <a:r>
              <a:rPr lang="en-US" sz="1300" b="1" dirty="0">
                <a:solidFill>
                  <a:srgbClr val="172433"/>
                </a:solidFill>
                <a:latin typeface="Aptos" pitchFamily="34" charset="0"/>
                <a:ea typeface="Aptos" pitchFamily="34" charset="-122"/>
                <a:cs typeface="Aptos" pitchFamily="34" charset="-120"/>
              </a:rPr>
              <a:t>For defense purposes, it is helpful to separate claims that the repository clearly supports from claims that it does not support.</a:t>
            </a:r>
            <a:endParaRPr lang="en-US" sz="1300" dirty="0"/>
          </a:p>
        </p:txBody>
      </p:sp>
      <p:sp>
        <p:nvSpPr>
          <p:cNvPr id="8" name="Text 6"/>
          <p:cNvSpPr/>
          <p:nvPr/>
        </p:nvSpPr>
        <p:spPr>
          <a:xfrm>
            <a:off x="457200" y="1737360"/>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For defense purposes, it is helpful to separate claims that the repository clearly supports from claims that it does not support.</a:t>
            </a:r>
            <a:endParaRPr lang="en-US" sz="1200" dirty="0"/>
          </a:p>
        </p:txBody>
      </p:sp>
      <p:sp>
        <p:nvSpPr>
          <p:cNvPr id="9" name="Text 7"/>
          <p:cNvSpPr/>
          <p:nvPr/>
        </p:nvSpPr>
        <p:spPr>
          <a:xfrm>
            <a:off x="457200" y="2188464"/>
            <a:ext cx="11313871" cy="237744"/>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project implements a transparent graph-based surrogate model for macro-scale altered-state-inspired dynamics.</a:t>
            </a:r>
            <a:endParaRPr lang="en-US" sz="1200" dirty="0"/>
          </a:p>
        </p:txBody>
      </p:sp>
      <p:sp>
        <p:nvSpPr>
          <p:cNvPr id="10" name="Text 8"/>
          <p:cNvSpPr/>
          <p:nvPr/>
        </p:nvSpPr>
        <p:spPr>
          <a:xfrm>
            <a:off x="457200" y="2481072"/>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project derives placebo and LSD-minus-placebo target summaries from a real public neuroimaging dataset rather than relying only on literature summaries.</a:t>
            </a:r>
            <a:endParaRPr lang="en-US" sz="1200" dirty="0"/>
          </a:p>
        </p:txBody>
      </p:sp>
      <p:sp>
        <p:nvSpPr>
          <p:cNvPr id="11" name="Text 9"/>
          <p:cNvSpPr/>
          <p:nvPr/>
        </p:nvSpPr>
        <p:spPr>
          <a:xfrm>
            <a:off x="457200" y="2932176"/>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project demonstrates that placebo-derived calibration can better align a sober reference regime under the chosen objective.</a:t>
            </a:r>
            <a:endParaRPr lang="en-US" sz="1200" dirty="0"/>
          </a:p>
        </p:txBody>
      </p:sp>
      <p:sp>
        <p:nvSpPr>
          <p:cNvPr id="12" name="Text 10"/>
          <p:cNvSpPr/>
          <p:nvPr/>
        </p:nvSpPr>
        <p:spPr>
          <a:xfrm>
            <a:off x="457200" y="3383280"/>
            <a:ext cx="11313871" cy="396240"/>
          </a:xfrm>
          <a:prstGeom prst="rect">
            <a:avLst/>
          </a:prstGeom>
          <a:noFill/>
          <a:ln/>
        </p:spPr>
        <p:txBody>
          <a:bodyPr wrap="square" lIns="0" tIns="0" rIns="0" bIns="0" rtlCol="0" anchor="ctr"/>
          <a:lstStyle/>
          <a:p>
            <a:pPr marL="177800" indent="-177800">
              <a:buSzPct val="100000"/>
              <a:buChar char="•"/>
            </a:pPr>
            <a:r>
              <a:rPr lang="en-US" sz="1200" dirty="0">
                <a:solidFill>
                  <a:srgbClr val="172433"/>
                </a:solidFill>
                <a:latin typeface="Aptos" pitchFamily="34" charset="0"/>
                <a:ea typeface="Aptos" pitchFamily="34" charset="-122"/>
                <a:cs typeface="Aptos" pitchFamily="34" charset="-120"/>
              </a:rPr>
              <a:t>The project demonstrates that the current model class and the current eight-module extraction are insufficient to reproduce the full empirical altered-state signature robustly.</a:t>
            </a:r>
            <a:endParaRPr lang="en-US" sz="1200" dirty="0"/>
          </a:p>
        </p:txBody>
      </p:sp>
      <p:sp>
        <p:nvSpPr>
          <p:cNvPr id="13" name="Text 11"/>
          <p:cNvSpPr/>
          <p:nvPr/>
        </p:nvSpPr>
        <p:spPr>
          <a:xfrm>
            <a:off x="438912" y="4017264"/>
            <a:ext cx="11313871" cy="274320"/>
          </a:xfrm>
          <a:prstGeom prst="rect">
            <a:avLst/>
          </a:prstGeom>
          <a:noFill/>
          <a:ln/>
        </p:spPr>
        <p:txBody>
          <a:bodyPr wrap="square" lIns="0" tIns="0" rIns="0" bIns="0" rtlCol="0" anchor="ctr"/>
          <a:lstStyle/>
          <a:p>
            <a:pPr indent="0" marL="0">
              <a:buNone/>
            </a:pPr>
            <a:r>
              <a:rPr lang="en-US" sz="950" i="1" dirty="0">
                <a:solidFill>
                  <a:srgbClr val="5B6978"/>
                </a:solidFill>
                <a:latin typeface="Aptos" pitchFamily="34" charset="0"/>
                <a:ea typeface="Aptos" pitchFamily="34" charset="-122"/>
                <a:cs typeface="Aptos" pitchFamily="34" charset="-120"/>
              </a:rPr>
              <a:t>Derived from the long-form thesis report.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Defense presentation</dc:title>
  <dc:subject>Defense presentation</dc:subject>
  <dc:creator>OpenAI</dc:creator>
  <cp:lastModifiedBy>OpenAI</cp:lastModifiedBy>
  <cp:revision>1</cp:revision>
  <dcterms:created xsi:type="dcterms:W3CDTF">2026-05-29T21:08:15Z</dcterms:created>
  <dcterms:modified xsi:type="dcterms:W3CDTF">2026-05-29T21:08:15Z</dcterms:modified>
</cp:coreProperties>
</file>